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61"/>
  </p:notesMasterIdLst>
  <p:sldIdLst>
    <p:sldId id="280" r:id="rId3"/>
    <p:sldId id="265" r:id="rId4"/>
    <p:sldId id="266" r:id="rId5"/>
    <p:sldId id="264" r:id="rId6"/>
    <p:sldId id="257" r:id="rId7"/>
    <p:sldId id="421" r:id="rId8"/>
    <p:sldId id="259" r:id="rId9"/>
    <p:sldId id="412" r:id="rId10"/>
    <p:sldId id="422" r:id="rId11"/>
    <p:sldId id="426" r:id="rId12"/>
    <p:sldId id="373" r:id="rId13"/>
    <p:sldId id="416" r:id="rId14"/>
    <p:sldId id="354" r:id="rId15"/>
    <p:sldId id="417" r:id="rId16"/>
    <p:sldId id="398" r:id="rId17"/>
    <p:sldId id="428" r:id="rId18"/>
    <p:sldId id="383" r:id="rId19"/>
    <p:sldId id="420" r:id="rId20"/>
    <p:sldId id="399" r:id="rId21"/>
    <p:sldId id="401" r:id="rId22"/>
    <p:sldId id="385" r:id="rId23"/>
    <p:sldId id="389" r:id="rId24"/>
    <p:sldId id="424" r:id="rId25"/>
    <p:sldId id="425" r:id="rId26"/>
    <p:sldId id="431" r:id="rId27"/>
    <p:sldId id="427" r:id="rId28"/>
    <p:sldId id="387" r:id="rId29"/>
    <p:sldId id="395" r:id="rId30"/>
    <p:sldId id="388" r:id="rId31"/>
    <p:sldId id="397" r:id="rId32"/>
    <p:sldId id="394" r:id="rId33"/>
    <p:sldId id="400" r:id="rId34"/>
    <p:sldId id="390" r:id="rId35"/>
    <p:sldId id="392" r:id="rId36"/>
    <p:sldId id="391" r:id="rId37"/>
    <p:sldId id="429" r:id="rId38"/>
    <p:sldId id="430" r:id="rId39"/>
    <p:sldId id="432" r:id="rId40"/>
    <p:sldId id="402" r:id="rId41"/>
    <p:sldId id="405" r:id="rId42"/>
    <p:sldId id="436" r:id="rId43"/>
    <p:sldId id="406" r:id="rId44"/>
    <p:sldId id="408" r:id="rId45"/>
    <p:sldId id="410" r:id="rId46"/>
    <p:sldId id="407" r:id="rId47"/>
    <p:sldId id="413" r:id="rId48"/>
    <p:sldId id="414" r:id="rId49"/>
    <p:sldId id="434" r:id="rId50"/>
    <p:sldId id="409" r:id="rId51"/>
    <p:sldId id="433" r:id="rId52"/>
    <p:sldId id="423" r:id="rId53"/>
    <p:sldId id="415" r:id="rId54"/>
    <p:sldId id="435" r:id="rId55"/>
    <p:sldId id="386" r:id="rId56"/>
    <p:sldId id="411" r:id="rId57"/>
    <p:sldId id="382" r:id="rId58"/>
    <p:sldId id="396" r:id="rId59"/>
    <p:sldId id="419" r:id="rId6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0074D9"/>
    <a:srgbClr val="C54D02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578" autoAdjust="0"/>
    <p:restoredTop sz="79956"/>
  </p:normalViewPr>
  <p:slideViewPr>
    <p:cSldViewPr snapToGrid="0">
      <p:cViewPr varScale="1">
        <p:scale>
          <a:sx n="48" d="100"/>
          <a:sy n="48" d="100"/>
        </p:scale>
        <p:origin x="192" y="1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7775E9-61F6-2447-A3F9-51C136C50737}" type="doc">
      <dgm:prSet loTypeId="urn:microsoft.com/office/officeart/2005/8/layout/process4" loCatId="" qsTypeId="urn:microsoft.com/office/officeart/2005/8/quickstyle/simple4" qsCatId="simple" csTypeId="urn:microsoft.com/office/officeart/2005/8/colors/colorful4" csCatId="colorful" phldr="1"/>
      <dgm:spPr/>
      <dgm:t>
        <a:bodyPr/>
        <a:lstStyle/>
        <a:p>
          <a:endParaRPr lang="en-GB"/>
        </a:p>
      </dgm:t>
    </dgm:pt>
    <dgm:pt modelId="{E793A54F-9767-D942-875C-3EAB08E2F3F2}">
      <dgm:prSet phldrT="[Text]"/>
      <dgm:spPr/>
      <dgm:t>
        <a:bodyPr/>
        <a:lstStyle/>
        <a:p>
          <a:r>
            <a:rPr lang="en-GB" dirty="0" err="1"/>
            <a:t>Dockerfile</a:t>
          </a:r>
          <a:endParaRPr lang="en-GB" dirty="0"/>
        </a:p>
      </dgm:t>
    </dgm:pt>
    <dgm:pt modelId="{58F1AC36-44A4-7048-A7EF-7CBA84005D10}" type="parTrans" cxnId="{6268798C-AD7B-1341-8865-F1C6DC494243}">
      <dgm:prSet/>
      <dgm:spPr/>
      <dgm:t>
        <a:bodyPr/>
        <a:lstStyle/>
        <a:p>
          <a:endParaRPr lang="en-GB"/>
        </a:p>
      </dgm:t>
    </dgm:pt>
    <dgm:pt modelId="{2EF937EB-0F64-2B49-87EB-A6C3AC2C77A8}" type="sibTrans" cxnId="{6268798C-AD7B-1341-8865-F1C6DC494243}">
      <dgm:prSet/>
      <dgm:spPr/>
      <dgm:t>
        <a:bodyPr/>
        <a:lstStyle/>
        <a:p>
          <a:endParaRPr lang="en-GB"/>
        </a:p>
      </dgm:t>
    </dgm:pt>
    <dgm:pt modelId="{652039B7-7613-DC4A-AAF8-27FA005FC950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build . --tag &lt;image-name&gt;</a:t>
          </a:r>
        </a:p>
      </dgm:t>
    </dgm:pt>
    <dgm:pt modelId="{AD37FEB6-39AE-894D-BDC0-8612DB4E604B}" type="parTrans" cxnId="{C469CB68-14AF-0A44-9EED-05A6D8311248}">
      <dgm:prSet/>
      <dgm:spPr/>
      <dgm:t>
        <a:bodyPr/>
        <a:lstStyle/>
        <a:p>
          <a:endParaRPr lang="en-GB"/>
        </a:p>
      </dgm:t>
    </dgm:pt>
    <dgm:pt modelId="{B4321F6B-10C5-D144-BC85-A14D6468B6F1}" type="sibTrans" cxnId="{C469CB68-14AF-0A44-9EED-05A6D8311248}">
      <dgm:prSet/>
      <dgm:spPr/>
      <dgm:t>
        <a:bodyPr/>
        <a:lstStyle/>
        <a:p>
          <a:endParaRPr lang="en-GB"/>
        </a:p>
      </dgm:t>
    </dgm:pt>
    <dgm:pt modelId="{0C488D3D-620A-A548-A7F6-7FE94BD833F3}">
      <dgm:prSet phldrT="[Text]"/>
      <dgm:spPr/>
      <dgm:t>
        <a:bodyPr/>
        <a:lstStyle/>
        <a:p>
          <a:r>
            <a:rPr lang="en-GB" dirty="0"/>
            <a:t>Container image</a:t>
          </a:r>
        </a:p>
      </dgm:t>
    </dgm:pt>
    <dgm:pt modelId="{12F3B432-6AE4-0145-BCBC-1689087E44B7}" type="parTrans" cxnId="{7ADB13B8-813C-3F46-B9E0-73CEAD6E938E}">
      <dgm:prSet/>
      <dgm:spPr/>
      <dgm:t>
        <a:bodyPr/>
        <a:lstStyle/>
        <a:p>
          <a:endParaRPr lang="en-GB"/>
        </a:p>
      </dgm:t>
    </dgm:pt>
    <dgm:pt modelId="{2F70E572-B947-D04A-9661-EE3943B6AF3D}" type="sibTrans" cxnId="{7ADB13B8-813C-3F46-B9E0-73CEAD6E938E}">
      <dgm:prSet/>
      <dgm:spPr/>
      <dgm:t>
        <a:bodyPr/>
        <a:lstStyle/>
        <a:p>
          <a:endParaRPr lang="en-GB"/>
        </a:p>
      </dgm:t>
    </dgm:pt>
    <dgm:pt modelId="{E459EF64-31ED-6B48-9836-0E867A8AB682}">
      <dgm:prSet phldrT="[Text]"/>
      <dgm:spPr/>
      <dgm:t>
        <a:bodyPr/>
        <a:lstStyle/>
        <a:p>
          <a:r>
            <a:rPr lang="en-GB" dirty="0"/>
            <a:t>Container runtime</a:t>
          </a:r>
        </a:p>
      </dgm:t>
    </dgm:pt>
    <dgm:pt modelId="{B08F62AC-4D52-BF45-B539-F9B409DC5916}" type="parTrans" cxnId="{4DF8484B-2324-764F-AE03-D667D159D9D3}">
      <dgm:prSet/>
      <dgm:spPr/>
      <dgm:t>
        <a:bodyPr/>
        <a:lstStyle/>
        <a:p>
          <a:endParaRPr lang="en-GB"/>
        </a:p>
      </dgm:t>
    </dgm:pt>
    <dgm:pt modelId="{09DCFDD3-D41D-954A-9D42-2D7E2FC4ADC1}" type="sibTrans" cxnId="{4DF8484B-2324-764F-AE03-D667D159D9D3}">
      <dgm:prSet/>
      <dgm:spPr/>
      <dgm:t>
        <a:bodyPr/>
        <a:lstStyle/>
        <a:p>
          <a:endParaRPr lang="en-GB"/>
        </a:p>
      </dgm:t>
    </dgm:pt>
    <dgm:pt modelId="{F3D3CDD9-EA52-DC4F-BF6D-FB463E069EE6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exec</a:t>
          </a:r>
        </a:p>
      </dgm:t>
    </dgm:pt>
    <dgm:pt modelId="{3EC1D282-8847-7840-9C1F-6BA9AB6A2483}" type="parTrans" cxnId="{E2BC7863-C973-F44A-92D7-0B4547C9769F}">
      <dgm:prSet/>
      <dgm:spPr/>
      <dgm:t>
        <a:bodyPr/>
        <a:lstStyle/>
        <a:p>
          <a:endParaRPr lang="en-GB"/>
        </a:p>
      </dgm:t>
    </dgm:pt>
    <dgm:pt modelId="{CF4EE80F-C04E-B24B-A1F7-60F50BC6A53D}" type="sibTrans" cxnId="{E2BC7863-C973-F44A-92D7-0B4547C9769F}">
      <dgm:prSet/>
      <dgm:spPr/>
      <dgm:t>
        <a:bodyPr/>
        <a:lstStyle/>
        <a:p>
          <a:endParaRPr lang="en-GB"/>
        </a:p>
      </dgm:t>
    </dgm:pt>
    <dgm:pt modelId="{4A536802-0D60-BE4E-8CB4-A221E7D8A742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run</a:t>
          </a:r>
          <a:endParaRPr lang="en-GB" sz="1600" dirty="0"/>
        </a:p>
      </dgm:t>
    </dgm:pt>
    <dgm:pt modelId="{821846DA-11E1-1B4C-9A7A-044CBB834BFA}" type="parTrans" cxnId="{0CB7BA80-4A1C-E345-AFAC-67B87ED63D76}">
      <dgm:prSet/>
      <dgm:spPr/>
      <dgm:t>
        <a:bodyPr/>
        <a:lstStyle/>
        <a:p>
          <a:endParaRPr lang="en-GB"/>
        </a:p>
      </dgm:t>
    </dgm:pt>
    <dgm:pt modelId="{BA36EF6F-FACA-F746-8847-3560EDE117E8}" type="sibTrans" cxnId="{0CB7BA80-4A1C-E345-AFAC-67B87ED63D76}">
      <dgm:prSet/>
      <dgm:spPr/>
      <dgm:t>
        <a:bodyPr/>
        <a:lstStyle/>
        <a:p>
          <a:endParaRPr lang="en-GB"/>
        </a:p>
      </dgm:t>
    </dgm:pt>
    <dgm:pt modelId="{7188D605-DB7D-8847-BC93-15323AEF3DCA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push &lt;image-name&gt;</a:t>
          </a:r>
          <a:endParaRPr lang="en-GB" sz="1600" dirty="0"/>
        </a:p>
      </dgm:t>
    </dgm:pt>
    <dgm:pt modelId="{A521C6E5-C13B-F447-AA50-A63249621AFB}" type="parTrans" cxnId="{B117A769-6077-F94C-9F3D-287217B09ACA}">
      <dgm:prSet/>
      <dgm:spPr/>
      <dgm:t>
        <a:bodyPr/>
        <a:lstStyle/>
        <a:p>
          <a:endParaRPr lang="en-GB"/>
        </a:p>
      </dgm:t>
    </dgm:pt>
    <dgm:pt modelId="{E48C6B6C-56FE-A642-9B49-7ACC8EF6DEC9}" type="sibTrans" cxnId="{B117A769-6077-F94C-9F3D-287217B09ACA}">
      <dgm:prSet/>
      <dgm:spPr/>
      <dgm:t>
        <a:bodyPr/>
        <a:lstStyle/>
        <a:p>
          <a:endParaRPr lang="en-GB"/>
        </a:p>
      </dgm:t>
    </dgm:pt>
    <dgm:pt modelId="{C9ADA624-6654-0042-B80A-A213A989D54B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pull &lt;image-name&gt;</a:t>
          </a:r>
          <a:endParaRPr lang="en-GB" sz="1600" dirty="0"/>
        </a:p>
      </dgm:t>
    </dgm:pt>
    <dgm:pt modelId="{0D9FFFB2-E021-E94C-997A-5F89A0F04B16}" type="parTrans" cxnId="{20092D13-9671-864F-8FCA-EACE07A4E6FD}">
      <dgm:prSet/>
      <dgm:spPr/>
      <dgm:t>
        <a:bodyPr/>
        <a:lstStyle/>
        <a:p>
          <a:endParaRPr lang="en-GB"/>
        </a:p>
      </dgm:t>
    </dgm:pt>
    <dgm:pt modelId="{35FE8ED2-D101-1644-BA63-64FCB4B18DB2}" type="sibTrans" cxnId="{20092D13-9671-864F-8FCA-EACE07A4E6FD}">
      <dgm:prSet/>
      <dgm:spPr/>
      <dgm:t>
        <a:bodyPr/>
        <a:lstStyle/>
        <a:p>
          <a:endParaRPr lang="en-GB"/>
        </a:p>
      </dgm:t>
    </dgm:pt>
    <dgm:pt modelId="{A6C0A8C4-57E8-CA43-8421-ED2D4868932E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logs</a:t>
          </a:r>
        </a:p>
      </dgm:t>
    </dgm:pt>
    <dgm:pt modelId="{75BE4F13-A8BB-7E49-8636-B6AA43A3ADD2}" type="parTrans" cxnId="{28F8220B-ED94-714C-8639-CE6542E0A702}">
      <dgm:prSet/>
      <dgm:spPr/>
      <dgm:t>
        <a:bodyPr/>
        <a:lstStyle/>
        <a:p>
          <a:endParaRPr lang="en-GB"/>
        </a:p>
      </dgm:t>
    </dgm:pt>
    <dgm:pt modelId="{B49CD758-4220-D04D-A477-A37C4AE6C7E3}" type="sibTrans" cxnId="{28F8220B-ED94-714C-8639-CE6542E0A702}">
      <dgm:prSet/>
      <dgm:spPr/>
      <dgm:t>
        <a:bodyPr/>
        <a:lstStyle/>
        <a:p>
          <a:endParaRPr lang="en-GB"/>
        </a:p>
      </dgm:t>
    </dgm:pt>
    <dgm:pt modelId="{C26DA746-BE74-B449-8497-85D79D69D6C0}" type="pres">
      <dgm:prSet presAssocID="{427775E9-61F6-2447-A3F9-51C136C50737}" presName="Name0" presStyleCnt="0">
        <dgm:presLayoutVars>
          <dgm:dir/>
          <dgm:animLvl val="lvl"/>
          <dgm:resizeHandles val="exact"/>
        </dgm:presLayoutVars>
      </dgm:prSet>
      <dgm:spPr/>
    </dgm:pt>
    <dgm:pt modelId="{4CBC3DAB-9C2C-754E-8FF5-396441777FF2}" type="pres">
      <dgm:prSet presAssocID="{E459EF64-31ED-6B48-9836-0E867A8AB682}" presName="boxAndChildren" presStyleCnt="0"/>
      <dgm:spPr/>
    </dgm:pt>
    <dgm:pt modelId="{C911CE40-583E-7246-954C-229B93D23E46}" type="pres">
      <dgm:prSet presAssocID="{E459EF64-31ED-6B48-9836-0E867A8AB682}" presName="parentTextBox" presStyleLbl="node1" presStyleIdx="0" presStyleCnt="3"/>
      <dgm:spPr/>
    </dgm:pt>
    <dgm:pt modelId="{02034758-B4E7-D641-B34E-6C4EEB2BC532}" type="pres">
      <dgm:prSet presAssocID="{E459EF64-31ED-6B48-9836-0E867A8AB682}" presName="entireBox" presStyleLbl="node1" presStyleIdx="0" presStyleCnt="3"/>
      <dgm:spPr/>
    </dgm:pt>
    <dgm:pt modelId="{2988A091-0879-3B45-9493-BA049ABABFC8}" type="pres">
      <dgm:prSet presAssocID="{E459EF64-31ED-6B48-9836-0E867A8AB682}" presName="descendantBox" presStyleCnt="0"/>
      <dgm:spPr/>
    </dgm:pt>
    <dgm:pt modelId="{F3EED4AF-A1E3-F14E-9593-E91645964936}" type="pres">
      <dgm:prSet presAssocID="{4A536802-0D60-BE4E-8CB4-A221E7D8A742}" presName="childTextBox" presStyleLbl="fgAccFollowNode1" presStyleIdx="0" presStyleCnt="6">
        <dgm:presLayoutVars>
          <dgm:bulletEnabled val="1"/>
        </dgm:presLayoutVars>
      </dgm:prSet>
      <dgm:spPr/>
    </dgm:pt>
    <dgm:pt modelId="{AB3559A2-3A7F-5D47-8C80-296363E5B883}" type="pres">
      <dgm:prSet presAssocID="{F3D3CDD9-EA52-DC4F-BF6D-FB463E069EE6}" presName="childTextBox" presStyleLbl="fgAccFollowNode1" presStyleIdx="1" presStyleCnt="6">
        <dgm:presLayoutVars>
          <dgm:bulletEnabled val="1"/>
        </dgm:presLayoutVars>
      </dgm:prSet>
      <dgm:spPr/>
    </dgm:pt>
    <dgm:pt modelId="{936FE113-42B4-F647-8ABA-20B10E8D5F3D}" type="pres">
      <dgm:prSet presAssocID="{A6C0A8C4-57E8-CA43-8421-ED2D4868932E}" presName="childTextBox" presStyleLbl="fgAccFollowNode1" presStyleIdx="2" presStyleCnt="6">
        <dgm:presLayoutVars>
          <dgm:bulletEnabled val="1"/>
        </dgm:presLayoutVars>
      </dgm:prSet>
      <dgm:spPr/>
    </dgm:pt>
    <dgm:pt modelId="{C5EC07D8-BB68-9245-A2A4-BB5C9737CDA0}" type="pres">
      <dgm:prSet presAssocID="{2F70E572-B947-D04A-9661-EE3943B6AF3D}" presName="sp" presStyleCnt="0"/>
      <dgm:spPr/>
    </dgm:pt>
    <dgm:pt modelId="{5B9347E6-F983-454C-8CCE-7F0AC49444A8}" type="pres">
      <dgm:prSet presAssocID="{0C488D3D-620A-A548-A7F6-7FE94BD833F3}" presName="arrowAndChildren" presStyleCnt="0"/>
      <dgm:spPr/>
    </dgm:pt>
    <dgm:pt modelId="{9819F0AA-D140-A94B-A22B-C0712A6BA414}" type="pres">
      <dgm:prSet presAssocID="{0C488D3D-620A-A548-A7F6-7FE94BD833F3}" presName="parentTextArrow" presStyleLbl="node1" presStyleIdx="0" presStyleCnt="3"/>
      <dgm:spPr/>
    </dgm:pt>
    <dgm:pt modelId="{FA7C990B-09F8-FB4E-9D84-F784A66F0DC7}" type="pres">
      <dgm:prSet presAssocID="{0C488D3D-620A-A548-A7F6-7FE94BD833F3}" presName="arrow" presStyleLbl="node1" presStyleIdx="1" presStyleCnt="3"/>
      <dgm:spPr/>
    </dgm:pt>
    <dgm:pt modelId="{EA1EA29F-5219-B14A-961C-29DFEBDF49DF}" type="pres">
      <dgm:prSet presAssocID="{0C488D3D-620A-A548-A7F6-7FE94BD833F3}" presName="descendantArrow" presStyleCnt="0"/>
      <dgm:spPr/>
    </dgm:pt>
    <dgm:pt modelId="{D962B14F-24E4-BC48-AA91-239E3383F83C}" type="pres">
      <dgm:prSet presAssocID="{7188D605-DB7D-8847-BC93-15323AEF3DCA}" presName="childTextArrow" presStyleLbl="fgAccFollowNode1" presStyleIdx="3" presStyleCnt="6">
        <dgm:presLayoutVars>
          <dgm:bulletEnabled val="1"/>
        </dgm:presLayoutVars>
      </dgm:prSet>
      <dgm:spPr/>
    </dgm:pt>
    <dgm:pt modelId="{E26C7069-0737-3A4F-9F35-12EAEFA424A2}" type="pres">
      <dgm:prSet presAssocID="{C9ADA624-6654-0042-B80A-A213A989D54B}" presName="childTextArrow" presStyleLbl="fgAccFollowNode1" presStyleIdx="4" presStyleCnt="6">
        <dgm:presLayoutVars>
          <dgm:bulletEnabled val="1"/>
        </dgm:presLayoutVars>
      </dgm:prSet>
      <dgm:spPr/>
    </dgm:pt>
    <dgm:pt modelId="{C91B04E1-3C65-354F-AF8F-9937A3171E09}" type="pres">
      <dgm:prSet presAssocID="{2EF937EB-0F64-2B49-87EB-A6C3AC2C77A8}" presName="sp" presStyleCnt="0"/>
      <dgm:spPr/>
    </dgm:pt>
    <dgm:pt modelId="{BDC583E1-D2A5-0A4F-BA69-41C2F057FA97}" type="pres">
      <dgm:prSet presAssocID="{E793A54F-9767-D942-875C-3EAB08E2F3F2}" presName="arrowAndChildren" presStyleCnt="0"/>
      <dgm:spPr/>
    </dgm:pt>
    <dgm:pt modelId="{B9CBB185-8BAB-664C-8958-89469A68A254}" type="pres">
      <dgm:prSet presAssocID="{E793A54F-9767-D942-875C-3EAB08E2F3F2}" presName="parentTextArrow" presStyleLbl="node1" presStyleIdx="1" presStyleCnt="3"/>
      <dgm:spPr/>
    </dgm:pt>
    <dgm:pt modelId="{02882D94-0D1A-7148-8FB9-0F78F2E71FB1}" type="pres">
      <dgm:prSet presAssocID="{E793A54F-9767-D942-875C-3EAB08E2F3F2}" presName="arrow" presStyleLbl="node1" presStyleIdx="2" presStyleCnt="3"/>
      <dgm:spPr/>
    </dgm:pt>
    <dgm:pt modelId="{461B57B8-44B6-AA4A-9A4A-65CFEBAA8E17}" type="pres">
      <dgm:prSet presAssocID="{E793A54F-9767-D942-875C-3EAB08E2F3F2}" presName="descendantArrow" presStyleCnt="0"/>
      <dgm:spPr/>
    </dgm:pt>
    <dgm:pt modelId="{6E9B98B2-A254-E447-A15F-E819E53CC870}" type="pres">
      <dgm:prSet presAssocID="{652039B7-7613-DC4A-AAF8-27FA005FC950}" presName="childTextArrow" presStyleLbl="fgAccFollowNode1" presStyleIdx="5" presStyleCnt="6">
        <dgm:presLayoutVars>
          <dgm:bulletEnabled val="1"/>
        </dgm:presLayoutVars>
      </dgm:prSet>
      <dgm:spPr/>
    </dgm:pt>
  </dgm:ptLst>
  <dgm:cxnLst>
    <dgm:cxn modelId="{DA2C9506-07A0-BC40-B90D-BADAF0E191B3}" type="presOf" srcId="{E459EF64-31ED-6B48-9836-0E867A8AB682}" destId="{02034758-B4E7-D641-B34E-6C4EEB2BC532}" srcOrd="1" destOrd="0" presId="urn:microsoft.com/office/officeart/2005/8/layout/process4"/>
    <dgm:cxn modelId="{28F8220B-ED94-714C-8639-CE6542E0A702}" srcId="{E459EF64-31ED-6B48-9836-0E867A8AB682}" destId="{A6C0A8C4-57E8-CA43-8421-ED2D4868932E}" srcOrd="2" destOrd="0" parTransId="{75BE4F13-A8BB-7E49-8636-B6AA43A3ADD2}" sibTransId="{B49CD758-4220-D04D-A477-A37C4AE6C7E3}"/>
    <dgm:cxn modelId="{20092D13-9671-864F-8FCA-EACE07A4E6FD}" srcId="{0C488D3D-620A-A548-A7F6-7FE94BD833F3}" destId="{C9ADA624-6654-0042-B80A-A213A989D54B}" srcOrd="1" destOrd="0" parTransId="{0D9FFFB2-E021-E94C-997A-5F89A0F04B16}" sibTransId="{35FE8ED2-D101-1644-BA63-64FCB4B18DB2}"/>
    <dgm:cxn modelId="{CACCBE1E-DEE8-1E41-B60B-723B119C67D4}" type="presOf" srcId="{7188D605-DB7D-8847-BC93-15323AEF3DCA}" destId="{D962B14F-24E4-BC48-AA91-239E3383F83C}" srcOrd="0" destOrd="0" presId="urn:microsoft.com/office/officeart/2005/8/layout/process4"/>
    <dgm:cxn modelId="{5D57D72E-6E80-F04A-B260-90D926F0D942}" type="presOf" srcId="{A6C0A8C4-57E8-CA43-8421-ED2D4868932E}" destId="{936FE113-42B4-F647-8ABA-20B10E8D5F3D}" srcOrd="0" destOrd="0" presId="urn:microsoft.com/office/officeart/2005/8/layout/process4"/>
    <dgm:cxn modelId="{4974C23E-5F14-814B-A78B-2ACB3D5191EB}" type="presOf" srcId="{F3D3CDD9-EA52-DC4F-BF6D-FB463E069EE6}" destId="{AB3559A2-3A7F-5D47-8C80-296363E5B883}" srcOrd="0" destOrd="0" presId="urn:microsoft.com/office/officeart/2005/8/layout/process4"/>
    <dgm:cxn modelId="{314FCA43-76E2-DB4E-8E61-2D582A15CBB0}" type="presOf" srcId="{0C488D3D-620A-A548-A7F6-7FE94BD833F3}" destId="{FA7C990B-09F8-FB4E-9D84-F784A66F0DC7}" srcOrd="1" destOrd="0" presId="urn:microsoft.com/office/officeart/2005/8/layout/process4"/>
    <dgm:cxn modelId="{4DF8484B-2324-764F-AE03-D667D159D9D3}" srcId="{427775E9-61F6-2447-A3F9-51C136C50737}" destId="{E459EF64-31ED-6B48-9836-0E867A8AB682}" srcOrd="2" destOrd="0" parTransId="{B08F62AC-4D52-BF45-B539-F9B409DC5916}" sibTransId="{09DCFDD3-D41D-954A-9D42-2D7E2FC4ADC1}"/>
    <dgm:cxn modelId="{E2BC7863-C973-F44A-92D7-0B4547C9769F}" srcId="{E459EF64-31ED-6B48-9836-0E867A8AB682}" destId="{F3D3CDD9-EA52-DC4F-BF6D-FB463E069EE6}" srcOrd="1" destOrd="0" parTransId="{3EC1D282-8847-7840-9C1F-6BA9AB6A2483}" sibTransId="{CF4EE80F-C04E-B24B-A1F7-60F50BC6A53D}"/>
    <dgm:cxn modelId="{C469CB68-14AF-0A44-9EED-05A6D8311248}" srcId="{E793A54F-9767-D942-875C-3EAB08E2F3F2}" destId="{652039B7-7613-DC4A-AAF8-27FA005FC950}" srcOrd="0" destOrd="0" parTransId="{AD37FEB6-39AE-894D-BDC0-8612DB4E604B}" sibTransId="{B4321F6B-10C5-D144-BC85-A14D6468B6F1}"/>
    <dgm:cxn modelId="{B117A769-6077-F94C-9F3D-287217B09ACA}" srcId="{0C488D3D-620A-A548-A7F6-7FE94BD833F3}" destId="{7188D605-DB7D-8847-BC93-15323AEF3DCA}" srcOrd="0" destOrd="0" parTransId="{A521C6E5-C13B-F447-AA50-A63249621AFB}" sibTransId="{E48C6B6C-56FE-A642-9B49-7ACC8EF6DEC9}"/>
    <dgm:cxn modelId="{0CB7BA80-4A1C-E345-AFAC-67B87ED63D76}" srcId="{E459EF64-31ED-6B48-9836-0E867A8AB682}" destId="{4A536802-0D60-BE4E-8CB4-A221E7D8A742}" srcOrd="0" destOrd="0" parTransId="{821846DA-11E1-1B4C-9A7A-044CBB834BFA}" sibTransId="{BA36EF6F-FACA-F746-8847-3560EDE117E8}"/>
    <dgm:cxn modelId="{57BE0385-C067-A248-AE4E-57728E90903E}" type="presOf" srcId="{4A536802-0D60-BE4E-8CB4-A221E7D8A742}" destId="{F3EED4AF-A1E3-F14E-9593-E91645964936}" srcOrd="0" destOrd="0" presId="urn:microsoft.com/office/officeart/2005/8/layout/process4"/>
    <dgm:cxn modelId="{85862386-ACB2-1945-9FD5-6932C9A56521}" type="presOf" srcId="{E793A54F-9767-D942-875C-3EAB08E2F3F2}" destId="{02882D94-0D1A-7148-8FB9-0F78F2E71FB1}" srcOrd="1" destOrd="0" presId="urn:microsoft.com/office/officeart/2005/8/layout/process4"/>
    <dgm:cxn modelId="{6268798C-AD7B-1341-8865-F1C6DC494243}" srcId="{427775E9-61F6-2447-A3F9-51C136C50737}" destId="{E793A54F-9767-D942-875C-3EAB08E2F3F2}" srcOrd="0" destOrd="0" parTransId="{58F1AC36-44A4-7048-A7EF-7CBA84005D10}" sibTransId="{2EF937EB-0F64-2B49-87EB-A6C3AC2C77A8}"/>
    <dgm:cxn modelId="{48400691-7F69-2F47-80DB-5B23265949C4}" type="presOf" srcId="{E793A54F-9767-D942-875C-3EAB08E2F3F2}" destId="{B9CBB185-8BAB-664C-8958-89469A68A254}" srcOrd="0" destOrd="0" presId="urn:microsoft.com/office/officeart/2005/8/layout/process4"/>
    <dgm:cxn modelId="{7ADB13B8-813C-3F46-B9E0-73CEAD6E938E}" srcId="{427775E9-61F6-2447-A3F9-51C136C50737}" destId="{0C488D3D-620A-A548-A7F6-7FE94BD833F3}" srcOrd="1" destOrd="0" parTransId="{12F3B432-6AE4-0145-BCBC-1689087E44B7}" sibTransId="{2F70E572-B947-D04A-9661-EE3943B6AF3D}"/>
    <dgm:cxn modelId="{9D9686CC-13F1-E54F-ACB0-4C9FE5BD8913}" type="presOf" srcId="{C9ADA624-6654-0042-B80A-A213A989D54B}" destId="{E26C7069-0737-3A4F-9F35-12EAEFA424A2}" srcOrd="0" destOrd="0" presId="urn:microsoft.com/office/officeart/2005/8/layout/process4"/>
    <dgm:cxn modelId="{E86E30CD-A20B-C143-BF58-C096C2ACB663}" type="presOf" srcId="{E459EF64-31ED-6B48-9836-0E867A8AB682}" destId="{C911CE40-583E-7246-954C-229B93D23E46}" srcOrd="0" destOrd="0" presId="urn:microsoft.com/office/officeart/2005/8/layout/process4"/>
    <dgm:cxn modelId="{F35DF9DC-4356-E444-A9ED-21C98FD72380}" type="presOf" srcId="{427775E9-61F6-2447-A3F9-51C136C50737}" destId="{C26DA746-BE74-B449-8497-85D79D69D6C0}" srcOrd="0" destOrd="0" presId="urn:microsoft.com/office/officeart/2005/8/layout/process4"/>
    <dgm:cxn modelId="{CDD24BF8-FD3F-444B-94E4-CE4591EA8774}" type="presOf" srcId="{0C488D3D-620A-A548-A7F6-7FE94BD833F3}" destId="{9819F0AA-D140-A94B-A22B-C0712A6BA414}" srcOrd="0" destOrd="0" presId="urn:microsoft.com/office/officeart/2005/8/layout/process4"/>
    <dgm:cxn modelId="{DA8E29FD-ACFF-D749-8CB7-715B705CA0F0}" type="presOf" srcId="{652039B7-7613-DC4A-AAF8-27FA005FC950}" destId="{6E9B98B2-A254-E447-A15F-E819E53CC870}" srcOrd="0" destOrd="0" presId="urn:microsoft.com/office/officeart/2005/8/layout/process4"/>
    <dgm:cxn modelId="{812DC259-BF0E-BB4A-9590-AFB432B409CF}" type="presParOf" srcId="{C26DA746-BE74-B449-8497-85D79D69D6C0}" destId="{4CBC3DAB-9C2C-754E-8FF5-396441777FF2}" srcOrd="0" destOrd="0" presId="urn:microsoft.com/office/officeart/2005/8/layout/process4"/>
    <dgm:cxn modelId="{CE1C443A-F77B-2D4D-A064-B9CD232E09F0}" type="presParOf" srcId="{4CBC3DAB-9C2C-754E-8FF5-396441777FF2}" destId="{C911CE40-583E-7246-954C-229B93D23E46}" srcOrd="0" destOrd="0" presId="urn:microsoft.com/office/officeart/2005/8/layout/process4"/>
    <dgm:cxn modelId="{C13ADBFC-A2CC-064C-94B0-6D9CF009958D}" type="presParOf" srcId="{4CBC3DAB-9C2C-754E-8FF5-396441777FF2}" destId="{02034758-B4E7-D641-B34E-6C4EEB2BC532}" srcOrd="1" destOrd="0" presId="urn:microsoft.com/office/officeart/2005/8/layout/process4"/>
    <dgm:cxn modelId="{7C7182FF-2DB2-2940-A253-7124B5341DB3}" type="presParOf" srcId="{4CBC3DAB-9C2C-754E-8FF5-396441777FF2}" destId="{2988A091-0879-3B45-9493-BA049ABABFC8}" srcOrd="2" destOrd="0" presId="urn:microsoft.com/office/officeart/2005/8/layout/process4"/>
    <dgm:cxn modelId="{B6403588-CCF8-CD44-820D-BF4F3E481B29}" type="presParOf" srcId="{2988A091-0879-3B45-9493-BA049ABABFC8}" destId="{F3EED4AF-A1E3-F14E-9593-E91645964936}" srcOrd="0" destOrd="0" presId="urn:microsoft.com/office/officeart/2005/8/layout/process4"/>
    <dgm:cxn modelId="{47B022D6-9555-D84D-8CC5-D14E6B824FD9}" type="presParOf" srcId="{2988A091-0879-3B45-9493-BA049ABABFC8}" destId="{AB3559A2-3A7F-5D47-8C80-296363E5B883}" srcOrd="1" destOrd="0" presId="urn:microsoft.com/office/officeart/2005/8/layout/process4"/>
    <dgm:cxn modelId="{4F73FC89-BD6D-B144-94A4-664944FE6D8B}" type="presParOf" srcId="{2988A091-0879-3B45-9493-BA049ABABFC8}" destId="{936FE113-42B4-F647-8ABA-20B10E8D5F3D}" srcOrd="2" destOrd="0" presId="urn:microsoft.com/office/officeart/2005/8/layout/process4"/>
    <dgm:cxn modelId="{1F41C63B-0BDA-0046-8729-E78A5D782A98}" type="presParOf" srcId="{C26DA746-BE74-B449-8497-85D79D69D6C0}" destId="{C5EC07D8-BB68-9245-A2A4-BB5C9737CDA0}" srcOrd="1" destOrd="0" presId="urn:microsoft.com/office/officeart/2005/8/layout/process4"/>
    <dgm:cxn modelId="{88DF480A-BD34-354A-AE1B-21CC2DDCB8A0}" type="presParOf" srcId="{C26DA746-BE74-B449-8497-85D79D69D6C0}" destId="{5B9347E6-F983-454C-8CCE-7F0AC49444A8}" srcOrd="2" destOrd="0" presId="urn:microsoft.com/office/officeart/2005/8/layout/process4"/>
    <dgm:cxn modelId="{77D6FC64-8545-7640-8288-729F3FE76523}" type="presParOf" srcId="{5B9347E6-F983-454C-8CCE-7F0AC49444A8}" destId="{9819F0AA-D140-A94B-A22B-C0712A6BA414}" srcOrd="0" destOrd="0" presId="urn:microsoft.com/office/officeart/2005/8/layout/process4"/>
    <dgm:cxn modelId="{05FC1AEE-BA3A-2744-A427-81BCEA44D3BC}" type="presParOf" srcId="{5B9347E6-F983-454C-8CCE-7F0AC49444A8}" destId="{FA7C990B-09F8-FB4E-9D84-F784A66F0DC7}" srcOrd="1" destOrd="0" presId="urn:microsoft.com/office/officeart/2005/8/layout/process4"/>
    <dgm:cxn modelId="{1520C9A6-DB03-6E4D-899A-E7023A5DF586}" type="presParOf" srcId="{5B9347E6-F983-454C-8CCE-7F0AC49444A8}" destId="{EA1EA29F-5219-B14A-961C-29DFEBDF49DF}" srcOrd="2" destOrd="0" presId="urn:microsoft.com/office/officeart/2005/8/layout/process4"/>
    <dgm:cxn modelId="{FCD26095-A27A-1246-B0EF-1BD8D6968105}" type="presParOf" srcId="{EA1EA29F-5219-B14A-961C-29DFEBDF49DF}" destId="{D962B14F-24E4-BC48-AA91-239E3383F83C}" srcOrd="0" destOrd="0" presId="urn:microsoft.com/office/officeart/2005/8/layout/process4"/>
    <dgm:cxn modelId="{77FFA10B-4FD1-1E49-B18E-1175C68110A5}" type="presParOf" srcId="{EA1EA29F-5219-B14A-961C-29DFEBDF49DF}" destId="{E26C7069-0737-3A4F-9F35-12EAEFA424A2}" srcOrd="1" destOrd="0" presId="urn:microsoft.com/office/officeart/2005/8/layout/process4"/>
    <dgm:cxn modelId="{5DC0B841-8680-E74B-B9D5-FEE96EA4FF4D}" type="presParOf" srcId="{C26DA746-BE74-B449-8497-85D79D69D6C0}" destId="{C91B04E1-3C65-354F-AF8F-9937A3171E09}" srcOrd="3" destOrd="0" presId="urn:microsoft.com/office/officeart/2005/8/layout/process4"/>
    <dgm:cxn modelId="{2B8E7A9D-5C2B-1049-842D-A0BEE2C044F0}" type="presParOf" srcId="{C26DA746-BE74-B449-8497-85D79D69D6C0}" destId="{BDC583E1-D2A5-0A4F-BA69-41C2F057FA97}" srcOrd="4" destOrd="0" presId="urn:microsoft.com/office/officeart/2005/8/layout/process4"/>
    <dgm:cxn modelId="{DFCAADE8-AC42-6249-8B04-0BB2C3BB91C4}" type="presParOf" srcId="{BDC583E1-D2A5-0A4F-BA69-41C2F057FA97}" destId="{B9CBB185-8BAB-664C-8958-89469A68A254}" srcOrd="0" destOrd="0" presId="urn:microsoft.com/office/officeart/2005/8/layout/process4"/>
    <dgm:cxn modelId="{4603707D-1F1C-1947-9135-32645393D83B}" type="presParOf" srcId="{BDC583E1-D2A5-0A4F-BA69-41C2F057FA97}" destId="{02882D94-0D1A-7148-8FB9-0F78F2E71FB1}" srcOrd="1" destOrd="0" presId="urn:microsoft.com/office/officeart/2005/8/layout/process4"/>
    <dgm:cxn modelId="{228B4B84-C8D6-0142-B306-10F87E81DA4D}" type="presParOf" srcId="{BDC583E1-D2A5-0A4F-BA69-41C2F057FA97}" destId="{461B57B8-44B6-AA4A-9A4A-65CFEBAA8E17}" srcOrd="2" destOrd="0" presId="urn:microsoft.com/office/officeart/2005/8/layout/process4"/>
    <dgm:cxn modelId="{E1C273A6-F321-7E44-9F42-9895F364B448}" type="presParOf" srcId="{461B57B8-44B6-AA4A-9A4A-65CFEBAA8E17}" destId="{6E9B98B2-A254-E447-A15F-E819E53CC87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34758-B4E7-D641-B34E-6C4EEB2BC532}">
      <dsp:nvSpPr>
        <dsp:cNvPr id="0" name=""/>
        <dsp:cNvSpPr/>
      </dsp:nvSpPr>
      <dsp:spPr>
        <a:xfrm>
          <a:off x="0" y="3356736"/>
          <a:ext cx="6142867" cy="1101755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Container runtime</a:t>
          </a:r>
        </a:p>
      </dsp:txBody>
      <dsp:txXfrm>
        <a:off x="0" y="3356736"/>
        <a:ext cx="6142867" cy="594948"/>
      </dsp:txXfrm>
    </dsp:sp>
    <dsp:sp modelId="{F3EED4AF-A1E3-F14E-9593-E91645964936}">
      <dsp:nvSpPr>
        <dsp:cNvPr id="0" name=""/>
        <dsp:cNvSpPr/>
      </dsp:nvSpPr>
      <dsp:spPr>
        <a:xfrm>
          <a:off x="2999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run</a:t>
          </a:r>
          <a:endParaRPr lang="en-GB" sz="1600" kern="1200" dirty="0"/>
        </a:p>
      </dsp:txBody>
      <dsp:txXfrm>
        <a:off x="2999" y="3929649"/>
        <a:ext cx="2045622" cy="506807"/>
      </dsp:txXfrm>
    </dsp:sp>
    <dsp:sp modelId="{AB3559A2-3A7F-5D47-8C80-296363E5B883}">
      <dsp:nvSpPr>
        <dsp:cNvPr id="0" name=""/>
        <dsp:cNvSpPr/>
      </dsp:nvSpPr>
      <dsp:spPr>
        <a:xfrm>
          <a:off x="2048622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-338272"/>
            <a:satOff val="1894"/>
            <a:lumOff val="-191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338272"/>
              <a:satOff val="1894"/>
              <a:lumOff val="-19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exec</a:t>
          </a:r>
        </a:p>
      </dsp:txBody>
      <dsp:txXfrm>
        <a:off x="2048622" y="3929649"/>
        <a:ext cx="2045622" cy="506807"/>
      </dsp:txXfrm>
    </dsp:sp>
    <dsp:sp modelId="{936FE113-42B4-F647-8ABA-20B10E8D5F3D}">
      <dsp:nvSpPr>
        <dsp:cNvPr id="0" name=""/>
        <dsp:cNvSpPr/>
      </dsp:nvSpPr>
      <dsp:spPr>
        <a:xfrm>
          <a:off x="4094244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-676545"/>
            <a:satOff val="3788"/>
            <a:lumOff val="-382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676545"/>
              <a:satOff val="3788"/>
              <a:lumOff val="-3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logs</a:t>
          </a:r>
        </a:p>
      </dsp:txBody>
      <dsp:txXfrm>
        <a:off x="4094244" y="3929649"/>
        <a:ext cx="2045622" cy="506807"/>
      </dsp:txXfrm>
    </dsp:sp>
    <dsp:sp modelId="{FA7C990B-09F8-FB4E-9D84-F784A66F0DC7}">
      <dsp:nvSpPr>
        <dsp:cNvPr id="0" name=""/>
        <dsp:cNvSpPr/>
      </dsp:nvSpPr>
      <dsp:spPr>
        <a:xfrm rot="10800000">
          <a:off x="0" y="1678762"/>
          <a:ext cx="6142867" cy="1694500"/>
        </a:xfrm>
        <a:prstGeom prst="upArrowCallout">
          <a:avLst/>
        </a:prstGeom>
        <a:gradFill rotWithShape="0">
          <a:gsLst>
            <a:gs pos="0">
              <a:schemeClr val="accent4">
                <a:hueOff val="-857133"/>
                <a:satOff val="7260"/>
                <a:lumOff val="-313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857133"/>
                <a:satOff val="7260"/>
                <a:lumOff val="-313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857133"/>
                <a:satOff val="7260"/>
                <a:lumOff val="-313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Container image</a:t>
          </a:r>
        </a:p>
      </dsp:txBody>
      <dsp:txXfrm rot="-10800000">
        <a:off x="0" y="1678762"/>
        <a:ext cx="6142867" cy="594769"/>
      </dsp:txXfrm>
    </dsp:sp>
    <dsp:sp modelId="{D962B14F-24E4-BC48-AA91-239E3383F83C}">
      <dsp:nvSpPr>
        <dsp:cNvPr id="0" name=""/>
        <dsp:cNvSpPr/>
      </dsp:nvSpPr>
      <dsp:spPr>
        <a:xfrm>
          <a:off x="0" y="2273531"/>
          <a:ext cx="3071433" cy="506655"/>
        </a:xfrm>
        <a:prstGeom prst="rect">
          <a:avLst/>
        </a:prstGeom>
        <a:solidFill>
          <a:schemeClr val="accent4">
            <a:tint val="40000"/>
            <a:alpha val="90000"/>
            <a:hueOff val="-1014817"/>
            <a:satOff val="5681"/>
            <a:lumOff val="-574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014817"/>
              <a:satOff val="5681"/>
              <a:lumOff val="-5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push &lt;image-name&gt;</a:t>
          </a:r>
          <a:endParaRPr lang="en-GB" sz="1600" kern="1200" dirty="0"/>
        </a:p>
      </dsp:txBody>
      <dsp:txXfrm>
        <a:off x="0" y="2273531"/>
        <a:ext cx="3071433" cy="506655"/>
      </dsp:txXfrm>
    </dsp:sp>
    <dsp:sp modelId="{E26C7069-0737-3A4F-9F35-12EAEFA424A2}">
      <dsp:nvSpPr>
        <dsp:cNvPr id="0" name=""/>
        <dsp:cNvSpPr/>
      </dsp:nvSpPr>
      <dsp:spPr>
        <a:xfrm>
          <a:off x="3071433" y="2273531"/>
          <a:ext cx="3071433" cy="506655"/>
        </a:xfrm>
        <a:prstGeom prst="rect">
          <a:avLst/>
        </a:prstGeom>
        <a:solidFill>
          <a:schemeClr val="accent4">
            <a:tint val="40000"/>
            <a:alpha val="90000"/>
            <a:hueOff val="-1353089"/>
            <a:satOff val="7575"/>
            <a:lumOff val="-765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353089"/>
              <a:satOff val="7575"/>
              <a:lumOff val="-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pull &lt;image-name&gt;</a:t>
          </a:r>
          <a:endParaRPr lang="en-GB" sz="1600" kern="1200" dirty="0"/>
        </a:p>
      </dsp:txBody>
      <dsp:txXfrm>
        <a:off x="3071433" y="2273531"/>
        <a:ext cx="3071433" cy="506655"/>
      </dsp:txXfrm>
    </dsp:sp>
    <dsp:sp modelId="{02882D94-0D1A-7148-8FB9-0F78F2E71FB1}">
      <dsp:nvSpPr>
        <dsp:cNvPr id="0" name=""/>
        <dsp:cNvSpPr/>
      </dsp:nvSpPr>
      <dsp:spPr>
        <a:xfrm rot="10800000">
          <a:off x="0" y="788"/>
          <a:ext cx="6142867" cy="1694500"/>
        </a:xfrm>
        <a:prstGeom prst="upArrowCallout">
          <a:avLst/>
        </a:prstGeom>
        <a:gradFill rotWithShape="0">
          <a:gsLst>
            <a:gs pos="0">
              <a:schemeClr val="accent4">
                <a:hueOff val="-1714266"/>
                <a:satOff val="14520"/>
                <a:lumOff val="-62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714266"/>
                <a:satOff val="14520"/>
                <a:lumOff val="-62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714266"/>
                <a:satOff val="14520"/>
                <a:lumOff val="-62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Dockerfile</a:t>
          </a:r>
          <a:endParaRPr lang="en-GB" sz="2100" kern="1200" dirty="0"/>
        </a:p>
      </dsp:txBody>
      <dsp:txXfrm rot="-10800000">
        <a:off x="0" y="788"/>
        <a:ext cx="6142867" cy="594769"/>
      </dsp:txXfrm>
    </dsp:sp>
    <dsp:sp modelId="{6E9B98B2-A254-E447-A15F-E819E53CC870}">
      <dsp:nvSpPr>
        <dsp:cNvPr id="0" name=""/>
        <dsp:cNvSpPr/>
      </dsp:nvSpPr>
      <dsp:spPr>
        <a:xfrm>
          <a:off x="0" y="595557"/>
          <a:ext cx="6142867" cy="506655"/>
        </a:xfrm>
        <a:prstGeom prst="rect">
          <a:avLst/>
        </a:prstGeom>
        <a:solidFill>
          <a:schemeClr val="accent4">
            <a:tint val="40000"/>
            <a:alpha val="90000"/>
            <a:hueOff val="-1691362"/>
            <a:satOff val="9469"/>
            <a:lumOff val="-956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691362"/>
              <a:satOff val="9469"/>
              <a:lumOff val="-9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build . --tag &lt;image-name&gt;</a:t>
          </a:r>
        </a:p>
      </dsp:txBody>
      <dsp:txXfrm>
        <a:off x="0" y="595557"/>
        <a:ext cx="6142867" cy="5066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02/06/2026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ximiuz/cdebug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14400" indent="-914400">
              <a:buFont typeface="+mj-lt"/>
              <a:buAutoNum type="arabicPeriod"/>
            </a:pPr>
            <a:r>
              <a:rPr lang="en-DK" sz="1200" dirty="0"/>
              <a:t>Containerisation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Dockerfile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</a:t>
            </a:r>
            <a:r>
              <a:rPr lang="en-DK" sz="1200" dirty="0"/>
              <a:t>: Basics (1/2 time)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Layers &amp; Base-images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Container Runtime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</a:t>
            </a:r>
            <a:r>
              <a:rPr lang="en-DK" sz="1200" dirty="0"/>
              <a:t>: Advanced (1 time)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Docker Compose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Exercises: </a:t>
            </a:r>
            <a:r>
              <a:rPr lang="en-DK" sz="1200" dirty="0"/>
              <a:t>Compose (rest. tid)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17433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5063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docker run -d -p 8080:80 --name web nginx -&gt; Browser at http://localhost:5000</a:t>
            </a:r>
          </a:p>
          <a:p>
            <a:endParaRPr lang="en-GB" dirty="0"/>
          </a:p>
          <a:p>
            <a:r>
              <a:rPr lang="en-GB" dirty="0"/>
              <a:t>What other images could we try? Let’s check https://</a:t>
            </a:r>
            <a:r>
              <a:rPr lang="en-GB" dirty="0" err="1"/>
              <a:t>hub.docker.com</a:t>
            </a:r>
            <a:r>
              <a:rPr lang="en-GB" dirty="0"/>
              <a:t>/</a:t>
            </a:r>
          </a:p>
          <a:p>
            <a:endParaRPr lang="en-GB" dirty="0"/>
          </a:p>
          <a:p>
            <a:r>
              <a:rPr lang="en-GB" dirty="0"/>
              <a:t>Tools running in seconds:</a:t>
            </a:r>
          </a:p>
          <a:p>
            <a:r>
              <a:rPr lang="en-GB" dirty="0"/>
              <a:t>docker run --rm python:3.8 python --version</a:t>
            </a:r>
            <a:br>
              <a:rPr lang="en-GB" dirty="0"/>
            </a:br>
            <a:r>
              <a:rPr lang="en-GB" dirty="0"/>
              <a:t>docker run --rm python:3.12 python –version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--rm -it openjdk:21 java –version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-p 8080:8080 </a:t>
            </a:r>
            <a:r>
              <a:rPr lang="en-GB" dirty="0" err="1"/>
              <a:t>springio</a:t>
            </a:r>
            <a:r>
              <a:rPr lang="en-GB" dirty="0"/>
              <a:t>/</a:t>
            </a:r>
            <a:r>
              <a:rPr lang="en-GB" dirty="0" err="1"/>
              <a:t>gs</a:t>
            </a:r>
            <a:r>
              <a:rPr lang="en-GB" dirty="0"/>
              <a:t>-spring-boot-docker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-e POSTGRES_PASSWORD=secret -p 5432:5432 </a:t>
            </a:r>
            <a:r>
              <a:rPr lang="en-GB" dirty="0" err="1"/>
              <a:t>postgres</a:t>
            </a:r>
            <a:endParaRPr lang="en-GB" dirty="0"/>
          </a:p>
          <a:p>
            <a:endParaRPr lang="en-GB" dirty="0"/>
          </a:p>
          <a:p>
            <a:r>
              <a:rPr lang="en-GB" dirty="0"/>
              <a:t>Fully featured applications in seconds:</a:t>
            </a:r>
          </a:p>
          <a:p>
            <a:r>
              <a:rPr lang="en-GB" dirty="0"/>
              <a:t>GITEA</a:t>
            </a:r>
            <a:br>
              <a:rPr lang="en-GB" dirty="0"/>
            </a:br>
            <a:r>
              <a:rPr lang="en-GB" dirty="0"/>
              <a:t>docker run -d -p 3000:3000 --name git </a:t>
            </a:r>
            <a:r>
              <a:rPr lang="en-GB" dirty="0" err="1"/>
              <a:t>gitea</a:t>
            </a:r>
            <a:r>
              <a:rPr lang="en-GB" dirty="0"/>
              <a:t>/</a:t>
            </a:r>
            <a:r>
              <a:rPr lang="en-GB" dirty="0" err="1"/>
              <a:t>gitea</a:t>
            </a:r>
            <a:endParaRPr lang="en-GB" dirty="0"/>
          </a:p>
          <a:p>
            <a:endParaRPr lang="en-GB" dirty="0"/>
          </a:p>
          <a:p>
            <a:r>
              <a:rPr lang="en-GB" dirty="0"/>
              <a:t>RABBITMQ (OPT)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run -d --publish 8082:15672 --name rabbit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rabbitmq:management</a:t>
            </a:r>
            <a:endParaRPr lang="en-GB" dirty="0"/>
          </a:p>
          <a:p>
            <a:endParaRPr lang="en-GB" dirty="0"/>
          </a:p>
          <a:p>
            <a:r>
              <a:rPr lang="en-GB" dirty="0"/>
              <a:t>WORDPRESS + DB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-d --name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wp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-p 8081:80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wordpress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network create </a:t>
            </a:r>
            <a:r>
              <a:rPr lang="en-GB" dirty="0" err="1"/>
              <a:t>wp</a:t>
            </a:r>
            <a:r>
              <a:rPr lang="en-GB" dirty="0"/>
              <a:t>-net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\</a:t>
            </a:r>
            <a:br>
              <a:rPr lang="en-GB" dirty="0"/>
            </a:br>
            <a:r>
              <a:rPr lang="en-GB" dirty="0"/>
              <a:t>--name </a:t>
            </a:r>
            <a:r>
              <a:rPr lang="en-GB" dirty="0" err="1"/>
              <a:t>wp-db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--network </a:t>
            </a:r>
            <a:r>
              <a:rPr lang="en-GB" dirty="0" err="1"/>
              <a:t>wp</a:t>
            </a:r>
            <a:r>
              <a:rPr lang="en-GB" dirty="0"/>
              <a:t>-net \</a:t>
            </a:r>
            <a:br>
              <a:rPr lang="en-GB" dirty="0"/>
            </a:br>
            <a:r>
              <a:rPr lang="en-GB" dirty="0"/>
              <a:t>-e MYSQL_ROOT_PASSWORD=secret \</a:t>
            </a:r>
            <a:br>
              <a:rPr lang="en-GB" dirty="0"/>
            </a:br>
            <a:r>
              <a:rPr lang="en-GB" dirty="0"/>
              <a:t>-e MYSQL_DATABASE=</a:t>
            </a:r>
            <a:r>
              <a:rPr lang="en-GB" dirty="0" err="1"/>
              <a:t>wordpress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MYSQL_USER=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MYSQL_PASSWORD=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mysql:8</a:t>
            </a:r>
            <a:br>
              <a:rPr lang="en-GB" dirty="0"/>
            </a:br>
            <a:br>
              <a:rPr lang="en-GB" dirty="0"/>
            </a:br>
            <a:r>
              <a:rPr lang="en-GB" dirty="0"/>
              <a:t>docker run -d \</a:t>
            </a:r>
            <a:br>
              <a:rPr lang="en-GB" dirty="0"/>
            </a:br>
            <a:r>
              <a:rPr lang="en-GB" dirty="0"/>
              <a:t>--name 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--network </a:t>
            </a:r>
            <a:r>
              <a:rPr lang="en-GB" dirty="0" err="1"/>
              <a:t>wp</a:t>
            </a:r>
            <a:r>
              <a:rPr lang="en-GB" dirty="0"/>
              <a:t>-net \</a:t>
            </a:r>
            <a:br>
              <a:rPr lang="en-GB" dirty="0"/>
            </a:br>
            <a:r>
              <a:rPr lang="en-GB" dirty="0"/>
              <a:t>-p 8081:80 \</a:t>
            </a:r>
            <a:br>
              <a:rPr lang="en-GB" dirty="0"/>
            </a:br>
            <a:r>
              <a:rPr lang="en-GB" dirty="0"/>
              <a:t>-e WORDPRESS_DB_HOST=wp-db:3306 \</a:t>
            </a:r>
            <a:br>
              <a:rPr lang="en-GB" dirty="0"/>
            </a:br>
            <a:r>
              <a:rPr lang="en-GB" dirty="0"/>
              <a:t>-e WORDPRESS_DB_USER=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WORDPRESS_DB_PASSWORD=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WORDPRESS_DB_NAME=</a:t>
            </a:r>
            <a:r>
              <a:rPr lang="en-GB" dirty="0" err="1"/>
              <a:t>wordpress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 err="1"/>
              <a:t>wordpress</a:t>
            </a: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rm -f </a:t>
            </a:r>
            <a:r>
              <a:rPr lang="en-GB" dirty="0" err="1"/>
              <a:t>wp</a:t>
            </a:r>
            <a:r>
              <a:rPr lang="en-GB" dirty="0"/>
              <a:t> </a:t>
            </a:r>
            <a:r>
              <a:rPr lang="en-GB" dirty="0" err="1"/>
              <a:t>wp-db</a:t>
            </a:r>
            <a:br>
              <a:rPr lang="en-GB" dirty="0"/>
            </a:br>
            <a:r>
              <a:rPr lang="en-GB" dirty="0"/>
              <a:t>docker network rm </a:t>
            </a:r>
            <a:r>
              <a:rPr lang="en-GB" dirty="0" err="1"/>
              <a:t>wp</a:t>
            </a:r>
            <a:r>
              <a:rPr lang="en-GB" dirty="0"/>
              <a:t>-net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96871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28460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54033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Forklar udfra udvikler synspunkt. Ny app version -&gt; Ny “bagning” ud fra opskriften.</a:t>
            </a:r>
          </a:p>
          <a:p>
            <a:endParaRPr lang="en-DK" dirty="0"/>
          </a:p>
          <a:p>
            <a:r>
              <a:rPr lang="en-DK" dirty="0"/>
              <a:t>Færdigbagt image = Genbrugeligt artefakt (oftest versioneret via tag).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66186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Narrate each VERB</a:t>
            </a:r>
          </a:p>
          <a:p>
            <a:endParaRPr lang="en-DK" dirty="0"/>
          </a:p>
          <a:p>
            <a:r>
              <a:rPr lang="en-GB" dirty="0"/>
              <a:t>Narrate the </a:t>
            </a:r>
            <a:r>
              <a:rPr lang="en-GB" dirty="0" err="1"/>
              <a:t>Dockerfile</a:t>
            </a:r>
            <a:r>
              <a:rPr lang="en-GB" dirty="0"/>
              <a:t> as:</a:t>
            </a:r>
          </a:p>
          <a:p>
            <a:r>
              <a:rPr lang="en-GB" dirty="0"/>
              <a:t>1. Start from a base environment </a:t>
            </a:r>
          </a:p>
          <a:p>
            <a:r>
              <a:rPr lang="en-GB" dirty="0"/>
              <a:t>2. Copy in application code </a:t>
            </a:r>
          </a:p>
          <a:p>
            <a:r>
              <a:rPr lang="en-GB" dirty="0"/>
              <a:t>3. Build the app </a:t>
            </a:r>
          </a:p>
          <a:p>
            <a:r>
              <a:rPr lang="en-GB" dirty="0"/>
              <a:t>4. Define startup command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79010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Følg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link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docker.io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vis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tilgængelige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images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søgning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efter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et.</a:t>
            </a:r>
          </a:p>
          <a:p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ENTRYPOINT</a:t>
            </a:r>
            <a:r>
              <a:rPr lang="en-GB" dirty="0"/>
              <a:t> defines the </a:t>
            </a:r>
            <a:r>
              <a:rPr lang="en-GB" b="1" dirty="0"/>
              <a:t>main executable</a:t>
            </a:r>
            <a:r>
              <a:rPr lang="en-GB" dirty="0"/>
              <a:t> of the container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CMD</a:t>
            </a:r>
            <a:r>
              <a:rPr lang="en-GB" dirty="0"/>
              <a:t> defines the </a:t>
            </a:r>
            <a:r>
              <a:rPr lang="en-GB" b="1" dirty="0"/>
              <a:t>default arguments</a:t>
            </a:r>
            <a:r>
              <a:rPr lang="en-GB" dirty="0"/>
              <a:t> to that executable. It’s easier to override: docker run </a:t>
            </a:r>
            <a:r>
              <a:rPr lang="en-GB" dirty="0" err="1"/>
              <a:t>myapp</a:t>
            </a:r>
            <a:r>
              <a:rPr lang="en-GB" dirty="0"/>
              <a:t> -version</a:t>
            </a:r>
          </a:p>
          <a:p>
            <a:endParaRPr lang="en-GB" dirty="0"/>
          </a:p>
          <a:p>
            <a:r>
              <a:rPr lang="en-GB" dirty="0"/>
              <a:t>EXPOSE is purely metadata/documentation!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49250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AF3F1-D7BA-F754-9876-C2A215AD6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1F3DBA-DE2E-8C7D-B912-0CDC55EA8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18428-99C9-7DF7-39AC-7A40B3DBD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04D76-40F9-6470-A008-3624193FF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495833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2C39A-4F86-4351-9941-B3FCF71F3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A1B8F-F72C-0616-5D33-8747986FC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009E0-C80A-D986-AEF0-00EC14557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Very likely issues that should be covered:</a:t>
            </a:r>
          </a:p>
          <a:p>
            <a:pPr marL="171450" indent="-171450">
              <a:buFontTx/>
              <a:buChar char="-"/>
            </a:pPr>
            <a:r>
              <a:rPr lang="en-DK" dirty="0"/>
              <a:t>Build Context (which folder does paths to COPY start in?)</a:t>
            </a:r>
          </a:p>
          <a:p>
            <a:pPr marL="171450" indent="-171450">
              <a:buFontTx/>
              <a:buChar char="-"/>
            </a:pPr>
            <a:r>
              <a:rPr lang="en-DK" dirty="0"/>
              <a:t>Steps that need user interaction (e.g. missing -y flag in apt cmds)</a:t>
            </a:r>
          </a:p>
          <a:p>
            <a:pPr marL="171450" indent="-171450">
              <a:buFontTx/>
              <a:buChar char="-"/>
            </a:pPr>
            <a:r>
              <a:rPr lang="en-DK" dirty="0"/>
              <a:t>Folders not existing where you think</a:t>
            </a:r>
          </a:p>
          <a:p>
            <a:pPr marL="171450" indent="-171450">
              <a:buFontTx/>
              <a:buChar char="-"/>
            </a:pPr>
            <a:endParaRPr lang="en-DK" dirty="0"/>
          </a:p>
          <a:p>
            <a:pPr marL="0" indent="0">
              <a:buFontTx/>
              <a:buNone/>
            </a:pPr>
            <a:r>
              <a:rPr lang="en-DK" dirty="0"/>
              <a:t>Debug Dockerfile</a:t>
            </a:r>
          </a:p>
          <a:p>
            <a:pPr marL="171450" lvl="0" indent="-171450">
              <a:buFontTx/>
              <a:buChar char="-"/>
            </a:pPr>
            <a:r>
              <a:rPr lang="en-DK" dirty="0"/>
              <a:t>VSCode extension /w debugger and breakpoints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d</a:t>
            </a:r>
            <a:r>
              <a:rPr lang="en-DK" dirty="0"/>
              <a:t>ocker inspect</a:t>
            </a:r>
          </a:p>
          <a:p>
            <a:pPr marL="171450" lvl="0" indent="-171450">
              <a:buFontTx/>
              <a:buChar char="-"/>
            </a:pPr>
            <a:r>
              <a:rPr lang="en-DK" dirty="0"/>
              <a:t>docker exec -it &lt;layer-sha&gt; /bin/bash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1141F-D589-937E-97DC-6C0A10FC8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53267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569214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Mere realistiske image referencer og Entrypoint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312719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scratch</a:t>
            </a:r>
            <a:r>
              <a:rPr lang="en-GB" dirty="0"/>
              <a:t> → minimal native binaries</a:t>
            </a:r>
          </a:p>
          <a:p>
            <a:r>
              <a:rPr lang="en-GB" dirty="0"/>
              <a:t>distro images → development/debugging flexibility</a:t>
            </a:r>
          </a:p>
          <a:p>
            <a:r>
              <a:rPr lang="en-GB" dirty="0"/>
              <a:t>	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googlecontainertools</a:t>
            </a:r>
            <a:r>
              <a:rPr lang="en-GB" dirty="0"/>
              <a:t>/</a:t>
            </a:r>
            <a:r>
              <a:rPr lang="en-GB" dirty="0" err="1"/>
              <a:t>distroless</a:t>
            </a:r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gcr.io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distroless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/static-debian12</a:t>
            </a:r>
            <a:endParaRPr lang="en-GB" dirty="0"/>
          </a:p>
          <a:p>
            <a:r>
              <a:rPr lang="en-GB" dirty="0" err="1"/>
              <a:t>distroless</a:t>
            </a:r>
            <a:r>
              <a:rPr lang="en-GB" dirty="0"/>
              <a:t> → secure production runtime</a:t>
            </a:r>
          </a:p>
          <a:p>
            <a:endParaRPr lang="en-GB" dirty="0"/>
          </a:p>
          <a:p>
            <a:r>
              <a:rPr lang="en-GB" b="1" dirty="0" err="1"/>
              <a:t>Distroless</a:t>
            </a:r>
            <a:r>
              <a:rPr lang="en-GB" b="1" dirty="0"/>
              <a:t> images</a:t>
            </a:r>
            <a:endParaRPr lang="en-GB" dirty="0"/>
          </a:p>
          <a:p>
            <a:r>
              <a:rPr lang="en-GB" dirty="0"/>
              <a:t>Only runtime dependencies included </a:t>
            </a:r>
          </a:p>
          <a:p>
            <a:r>
              <a:rPr lang="en-GB" dirty="0"/>
              <a:t>No shell or package manager </a:t>
            </a:r>
          </a:p>
          <a:p>
            <a:r>
              <a:rPr lang="en-GB" dirty="0"/>
              <a:t>Smaller and more secure than full distros </a:t>
            </a:r>
          </a:p>
          <a:p>
            <a:r>
              <a:rPr lang="en-GB" dirty="0"/>
              <a:t>Common for production Java/Node apps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80025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22355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Debugging distro-less image: docker debug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my-app:latest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(Docker Desktop)</a:t>
            </a:r>
          </a:p>
          <a:p>
            <a:r>
              <a:rPr lang="en-GB" dirty="0"/>
              <a:t>This launches a temporary sidecar/debug container with shell tools attached to the </a:t>
            </a:r>
            <a:r>
              <a:rPr lang="en-GB" dirty="0" err="1"/>
              <a:t>distroless</a:t>
            </a:r>
            <a:r>
              <a:rPr lang="en-GB" dirty="0"/>
              <a:t> container.</a:t>
            </a:r>
          </a:p>
          <a:p>
            <a:endParaRPr lang="en-DK" dirty="0"/>
          </a:p>
          <a:p>
            <a:r>
              <a:rPr lang="en-DK" dirty="0"/>
              <a:t>Open-source alternative: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brew install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cdebug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cdebug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 -it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mycontainer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dirty="0"/>
              <a:t>Requires “Sudo access” in Rancher Desktop</a:t>
            </a:r>
          </a:p>
          <a:p>
            <a:r>
              <a:rPr lang="en-GB" dirty="0"/>
              <a:t>https://</a:t>
            </a:r>
            <a:r>
              <a:rPr lang="en-GB" dirty="0" err="1"/>
              <a:t>docs.rancherdesktop.io</a:t>
            </a:r>
            <a:r>
              <a:rPr lang="en-GB" dirty="0"/>
              <a:t>/</a:t>
            </a:r>
            <a:r>
              <a:rPr lang="en-GB" dirty="0" err="1"/>
              <a:t>ui</a:t>
            </a:r>
            <a:r>
              <a:rPr lang="en-GB" dirty="0"/>
              <a:t>/preferences/application/general/#administrative-access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70016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3ACEB-62CF-2B2D-6534-EAB00E8E1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A9086-D737-19A4-7D37-F4ABA01BE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6F0C0-18A1-AC3C-7E2C-D19AA539D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06E6D-0CA4-EA34-B8D2-F7C08D199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04171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5C01E-189C-D71D-E1C3-A1C47EAF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C738F-7054-3719-EB8F-79D1A8B49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A8B4A-E1C5-A482-CFF9-753B5508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EE3E-4F6F-8B45-C8A1-2FFCF47E0B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80673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816028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Relate this to the CLI-demo spring+db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350571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Relate this to the CLI-demo spring+db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18870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Add more compose examples, so audience remembers frontend/backend definition.</a:t>
            </a:r>
          </a:p>
          <a:p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our example frontend can reach backend via http://backend:5000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462929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Relation: 12-factor app, app’s should be configurable and able to change “backing service”.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447784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See:</a:t>
            </a:r>
          </a:p>
          <a:p>
            <a:endParaRPr lang="en-DK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BookCoverService</a:t>
            </a:r>
            <a:r>
              <a:rPr lang="en-GB" dirty="0"/>
              <a:t>/blob/master/</a:t>
            </a:r>
            <a:r>
              <a:rPr lang="en-GB" dirty="0" err="1"/>
              <a:t>compose.yml</a:t>
            </a:r>
            <a:endParaRPr lang="en-GB" dirty="0"/>
          </a:p>
          <a:p>
            <a:endParaRPr lang="en-DK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BookCoverService</a:t>
            </a:r>
            <a:r>
              <a:rPr lang="en-GB" dirty="0"/>
              <a:t>/blob/master/.</a:t>
            </a:r>
            <a:r>
              <a:rPr lang="en-GB" dirty="0" err="1"/>
              <a:t>github</a:t>
            </a:r>
            <a:r>
              <a:rPr lang="en-GB" dirty="0"/>
              <a:t>/workflows/docker-</a:t>
            </a:r>
            <a:r>
              <a:rPr lang="en-GB" dirty="0" err="1"/>
              <a:t>publish.yml</a:t>
            </a:r>
            <a:endParaRPr lang="en-GB" dirty="0"/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ExamSystem</a:t>
            </a:r>
            <a:r>
              <a:rPr lang="en-GB" dirty="0"/>
              <a:t>/blob/main/ci/docker-</a:t>
            </a:r>
            <a:r>
              <a:rPr lang="en-GB" dirty="0" err="1"/>
              <a:t>compose.yml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975104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Show example in edu-spring-postgres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381988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--name </a:t>
            </a:r>
            <a:r>
              <a:rPr lang="en-GB" dirty="0" err="1"/>
              <a:t>distroless</a:t>
            </a:r>
            <a:r>
              <a:rPr lang="en-GB" dirty="0"/>
              <a:t> </a:t>
            </a:r>
            <a:r>
              <a:rPr lang="en-GB" dirty="0" err="1"/>
              <a:t>gcr.io</a:t>
            </a:r>
            <a:r>
              <a:rPr lang="en-GB" dirty="0"/>
              <a:t>/</a:t>
            </a:r>
            <a:r>
              <a:rPr lang="en-GB" dirty="0" err="1"/>
              <a:t>distroless</a:t>
            </a:r>
            <a:r>
              <a:rPr lang="en-GB" dirty="0"/>
              <a:t>/base-debian13:debug "-c" "sleep 666"</a:t>
            </a:r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--rm -it --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pid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container:distroless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--network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container:distroless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alpine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9454C3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github.com/iximiuz/cdebug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385290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545761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Visualisering: Navngiv lag – OS, App, Metadata (eg. EXPOSE), Config,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2662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CF7EC9F9-B21C-0748-9F3E-4C756D841F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955" y="1371049"/>
            <a:ext cx="10515599" cy="467691"/>
          </a:xfrm>
        </p:spPr>
        <p:txBody>
          <a:bodyPr>
            <a:noAutofit/>
          </a:bodyPr>
          <a:lstStyle>
            <a:lvl1pPr marL="0" indent="0">
              <a:buNone/>
              <a:defRPr sz="2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Yderligere information (valgfrit)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2007291"/>
            <a:ext cx="10515600" cy="412591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9517084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138" y="655604"/>
            <a:ext cx="6840537" cy="1504666"/>
          </a:xfrm>
        </p:spPr>
        <p:txBody>
          <a:bodyPr/>
          <a:lstStyle/>
          <a:p>
            <a:r>
              <a:rPr lang="da-DK" noProof="0"/>
              <a:t>Klik for at redigere titeltypografien i masteren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719138" y="2800800"/>
            <a:ext cx="6840000" cy="24840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75665A-61CB-4DAB-8750-5B97BD1810B6}" type="datetime5">
              <a:rPr lang="da-DK" smtClean="0"/>
              <a:pPr/>
              <a:t>juni 2026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270741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62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02.06.2026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containerisation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build/cache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containerisatio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ocker/awesome-compose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.wiki/MHUu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Containerisation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#1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maj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C0BD0-8F9B-5697-0114-FF6049F6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KB’s strategi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0ABFD3F-5110-8526-9743-2B1F07EE94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4" y="1875890"/>
            <a:ext cx="10421291" cy="4400078"/>
          </a:xfrm>
        </p:spPr>
        <p:txBody>
          <a:bodyPr vert="horz" lIns="0" tIns="0" rIns="0" bIns="0" rtlCol="0" anchor="t">
            <a:noAutofit/>
          </a:bodyPr>
          <a:lstStyle/>
          <a:p>
            <a:pPr marL="251460" indent="-251460"/>
            <a:r>
              <a:rPr lang="da-DK" sz="2000" b="1" dirty="0"/>
              <a:t>Leverandør af viden og kulturarv</a:t>
            </a:r>
            <a:endParaRPr lang="da-DK" sz="2000" dirty="0"/>
          </a:p>
          <a:p>
            <a:pPr marL="431800" lvl="1" indent="-179705"/>
            <a:r>
              <a:rPr lang="da-DK" sz="1800" dirty="0"/>
              <a:t>Med </a:t>
            </a:r>
            <a:r>
              <a:rPr lang="da-DK" sz="1800" dirty="0" err="1"/>
              <a:t>Kubernetes</a:t>
            </a:r>
            <a:r>
              <a:rPr lang="da-DK" sz="1800" dirty="0"/>
              <a:t> og </a:t>
            </a:r>
            <a:r>
              <a:rPr lang="da-DK" sz="1800" dirty="0" err="1"/>
              <a:t>containerization</a:t>
            </a:r>
            <a:r>
              <a:rPr lang="da-DK" sz="1800" dirty="0"/>
              <a:t> </a:t>
            </a:r>
            <a:r>
              <a:rPr lang="da-DK" sz="1800" dirty="0" err="1"/>
              <a:t>first</a:t>
            </a:r>
            <a:r>
              <a:rPr lang="da-DK" sz="1800" dirty="0"/>
              <a:t> kan vi levere hurtigere og mere driftsstabil adgang til vores digitale materialer og tjenester.</a:t>
            </a:r>
            <a:endParaRPr lang="da-DK" sz="1800" dirty="0">
              <a:cs typeface="Arial"/>
            </a:endParaRPr>
          </a:p>
          <a:p>
            <a:pPr marL="0" indent="0">
              <a:buNone/>
            </a:pPr>
            <a:endParaRPr lang="da-DK" sz="2000" b="1" i="0" dirty="0">
              <a:effectLst/>
            </a:endParaRPr>
          </a:p>
          <a:p>
            <a:pPr marL="251460" indent="-251460"/>
            <a:r>
              <a:rPr lang="da-DK" sz="2000" b="1" i="0" dirty="0">
                <a:effectLst/>
              </a:rPr>
              <a:t>En digital og datadrevet organisation</a:t>
            </a:r>
            <a:endParaRPr lang="da-DK" sz="2000" b="1" i="0" dirty="0">
              <a:effectLst/>
              <a:cs typeface="Arial"/>
            </a:endParaRPr>
          </a:p>
          <a:p>
            <a:pPr marL="431800" lvl="1" indent="-179705"/>
            <a:r>
              <a:rPr lang="da-DK" sz="1800" dirty="0" err="1"/>
              <a:t>Kubernetes</a:t>
            </a:r>
            <a:r>
              <a:rPr lang="da-DK" sz="1800" dirty="0"/>
              <a:t> er et af vores værktøjer til at skabe en robust og sikker infrastruktur</a:t>
            </a:r>
            <a:endParaRPr lang="da-DK" sz="1800" i="0" dirty="0">
              <a:effectLst/>
              <a:cs typeface="Arial"/>
            </a:endParaRPr>
          </a:p>
          <a:p>
            <a:pPr marL="431800" lvl="1" indent="-179705"/>
            <a:r>
              <a:rPr lang="da-DK" sz="1800" dirty="0">
                <a:cs typeface="Arial"/>
              </a:rPr>
              <a:t>Ensartet monitorering og ensartet log-opsamling = mere datadrevet drift</a:t>
            </a:r>
          </a:p>
          <a:p>
            <a:endParaRPr lang="da-DK" sz="2000" b="1" dirty="0"/>
          </a:p>
          <a:p>
            <a:pPr marL="251460" indent="-251460"/>
            <a:r>
              <a:rPr lang="da-DK" sz="2000" b="1" i="0" dirty="0">
                <a:effectLst/>
              </a:rPr>
              <a:t>En attraktiv og inspirerende arbejdsplads </a:t>
            </a:r>
            <a:endParaRPr lang="da-DK" sz="2000" b="1" i="0" dirty="0">
              <a:effectLst/>
              <a:cs typeface="Arial"/>
            </a:endParaRPr>
          </a:p>
          <a:p>
            <a:pPr marL="431800" lvl="1" indent="-179705"/>
            <a:r>
              <a:rPr lang="da-DK" sz="1800" dirty="0"/>
              <a:t>Muligheden for at udvikle sine kompetencer og for at arbejde med moderne standarder for it-drift og udvikling</a:t>
            </a:r>
            <a:endParaRPr lang="da-DK" sz="1800" dirty="0">
              <a:cs typeface="Arial"/>
            </a:endParaRP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946AD3B-F52C-8083-E3E9-77634EFCAC9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99197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FD017-301A-E2EE-FF34-247248D0C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655604"/>
            <a:ext cx="8557880" cy="1504666"/>
          </a:xfrm>
        </p:spPr>
        <p:txBody>
          <a:bodyPr/>
          <a:lstStyle/>
          <a:p>
            <a:r>
              <a:rPr lang="da-DK" dirty="0">
                <a:cs typeface="Times New Roman"/>
              </a:rPr>
              <a:t>Agile teams:</a:t>
            </a:r>
            <a:br>
              <a:rPr lang="da-DK" dirty="0">
                <a:cs typeface="Times New Roman"/>
              </a:rPr>
            </a:br>
            <a:r>
              <a:rPr lang="da-DK" dirty="0">
                <a:cs typeface="Times New Roman"/>
              </a:rPr>
              <a:t>Autonome og </a:t>
            </a:r>
            <a:r>
              <a:rPr lang="da-DK" dirty="0" err="1">
                <a:cs typeface="Times New Roman"/>
              </a:rPr>
              <a:t>mynddiggjorte</a:t>
            </a:r>
            <a:endParaRPr lang="da-DK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369E635-C3EE-7880-1710-C5B7756F3B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2369876"/>
            <a:ext cx="10884283" cy="4093986"/>
          </a:xfrm>
        </p:spPr>
        <p:txBody>
          <a:bodyPr vert="horz" lIns="0" tIns="0" rIns="0" bIns="0" rtlCol="0" anchor="t">
            <a:noAutofit/>
          </a:bodyPr>
          <a:lstStyle/>
          <a:p>
            <a:pPr marL="251460" indent="-251460"/>
            <a:r>
              <a:rPr lang="da-DK" dirty="0">
                <a:cs typeface="Arial"/>
              </a:rPr>
              <a:t>Vi vil gerne gøre vores agile teams så selvkørende og selvbestemmende som muligt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Selvfølgelig i tæt samarbejde med </a:t>
            </a:r>
            <a:r>
              <a:rPr lang="da-DK" dirty="0" err="1">
                <a:cs typeface="Arial"/>
              </a:rPr>
              <a:t>PO'er</a:t>
            </a:r>
            <a:r>
              <a:rPr lang="da-DK" dirty="0">
                <a:cs typeface="Arial"/>
              </a:rPr>
              <a:t> og ejerkredse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endParaRPr lang="da-DK" dirty="0">
              <a:cs typeface="Arial"/>
            </a:endParaRPr>
          </a:p>
          <a:p>
            <a:pPr marL="251460" indent="-251460"/>
            <a:r>
              <a:rPr lang="da-DK" dirty="0">
                <a:cs typeface="Arial"/>
              </a:rPr>
              <a:t>Arbejdet med </a:t>
            </a:r>
            <a:r>
              <a:rPr lang="da-DK" dirty="0" err="1">
                <a:cs typeface="Arial"/>
              </a:rPr>
              <a:t>DevOps</a:t>
            </a:r>
            <a:r>
              <a:rPr lang="da-DK" dirty="0">
                <a:cs typeface="Arial"/>
              </a:rPr>
              <a:t> skal løfte applikationsdrift ud på alle teams således at de både udvikler og drifter applikationer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</a:t>
            </a:r>
            <a:r>
              <a:rPr lang="da-DK" dirty="0" err="1">
                <a:cs typeface="Arial"/>
              </a:rPr>
              <a:t>build</a:t>
            </a:r>
            <a:r>
              <a:rPr lang="da-DK" dirty="0">
                <a:cs typeface="Arial"/>
              </a:rPr>
              <a:t> it </a:t>
            </a:r>
            <a:r>
              <a:rPr lang="da-DK" dirty="0">
                <a:cs typeface="Arial"/>
                <a:sym typeface="Wingdings" pitchFamily="2" charset="2"/>
              </a:rPr>
              <a:t> </a:t>
            </a: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run it </a:t>
            </a:r>
            <a:r>
              <a:rPr lang="da-DK" dirty="0">
                <a:cs typeface="Arial"/>
                <a:sym typeface="Wingdings" pitchFamily="2" charset="2"/>
              </a:rPr>
              <a:t> </a:t>
            </a: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</a:t>
            </a:r>
            <a:r>
              <a:rPr lang="da-DK" dirty="0" err="1">
                <a:cs typeface="Arial"/>
              </a:rPr>
              <a:t>kill</a:t>
            </a:r>
            <a:r>
              <a:rPr lang="da-DK" dirty="0">
                <a:cs typeface="Arial"/>
              </a:rPr>
              <a:t> it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Det kommer til at tage tid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Der skal afklares nye snitflader mellem agile teams, TEK og Team Platform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 err="1">
                <a:cs typeface="Arial"/>
              </a:rPr>
              <a:t>DevOps</a:t>
            </a:r>
            <a:r>
              <a:rPr lang="da-DK" dirty="0">
                <a:cs typeface="Arial"/>
              </a:rPr>
              <a:t>-afklaringerne starter i efteråret så vi kan nå at have aftalt snitflader for de første container-applikationer, når produktionsplatformen er klar ultimo 2026</a:t>
            </a:r>
          </a:p>
          <a:p>
            <a:pPr marL="0" indent="0">
              <a:buNone/>
            </a:pPr>
            <a:endParaRPr lang="da-DK" dirty="0">
              <a:cs typeface="Arial"/>
            </a:endParaRP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CE72A79-8C08-6CDF-3C84-259FC678D1F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341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59B5C-9723-ECA9-E251-5E7DBF54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Vi ved at det tager tid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B06FF22-0986-DAC6-F123-2C97E0BC3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2028497"/>
            <a:ext cx="6840000" cy="3256303"/>
          </a:xfrm>
        </p:spPr>
        <p:txBody>
          <a:bodyPr>
            <a:normAutofit fontScale="85000" lnSpcReduction="20000"/>
          </a:bodyPr>
          <a:lstStyle/>
          <a:p>
            <a:r>
              <a:rPr lang="da-DK" dirty="0"/>
              <a:t>Det er en opgave vi prioriterer i DT, og vil sikre at også forretningen prioriterer</a:t>
            </a:r>
          </a:p>
          <a:p>
            <a:endParaRPr lang="da-DK" dirty="0"/>
          </a:p>
          <a:p>
            <a:r>
              <a:rPr lang="da-DK" dirty="0"/>
              <a:t>Vi ved at det er en stor forandring og noget der tager tid</a:t>
            </a:r>
          </a:p>
          <a:p>
            <a:pPr lvl="1"/>
            <a:r>
              <a:rPr lang="da-DK" dirty="0"/>
              <a:t>projektet har i første omgang sat en 3 årig periode af til processen med at implementere </a:t>
            </a:r>
            <a:r>
              <a:rPr lang="da-DK" dirty="0" err="1"/>
              <a:t>Kubernetes</a:t>
            </a:r>
            <a:endParaRPr lang="da-DK" dirty="0"/>
          </a:p>
          <a:p>
            <a:endParaRPr lang="da-DK" dirty="0"/>
          </a:p>
          <a:p>
            <a:r>
              <a:rPr lang="da-DK" dirty="0"/>
              <a:t>Vi er stolte over at vi selv kan køre kurser</a:t>
            </a:r>
          </a:p>
          <a:p>
            <a:endParaRPr lang="da-DK" dirty="0"/>
          </a:p>
          <a:p>
            <a:r>
              <a:rPr lang="da-DK" dirty="0"/>
              <a:t>Vi vil sikre at der er den rette tid og mulighed for hjælp og sparring</a:t>
            </a:r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3A83DB9-4F6F-B772-B775-945E9C2BDF9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5919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/>
              <a:t>Containerisation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E18129-35D8-BD26-5B8A-CF1FB424F95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0"/>
          </a:xfrm>
        </p:spPr>
        <p:txBody>
          <a:bodyPr/>
          <a:lstStyle/>
          <a:p>
            <a:r>
              <a:rPr lang="en-GB" dirty="0"/>
              <a:t>Build your app once, run it consistently anywhere!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835880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7"/>
            <a:ext cx="6838295" cy="3988673"/>
          </a:xfrm>
        </p:spPr>
        <p:txBody>
          <a:bodyPr>
            <a:normAutofit fontScale="850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4000" dirty="0"/>
              <a:t>Containerisation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Dockerfile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</a:t>
            </a:r>
            <a:r>
              <a:rPr lang="en-DK" sz="4000" dirty="0"/>
              <a:t>: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Layers &amp; Base-images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Container Runtime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</a:t>
            </a:r>
            <a:r>
              <a:rPr lang="en-DK" sz="4000" dirty="0"/>
              <a:t>: Advanced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Docker Compose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Exercises: </a:t>
            </a:r>
            <a:r>
              <a:rPr lang="en-DK" sz="4000" dirty="0"/>
              <a:t>Compose</a:t>
            </a:r>
          </a:p>
        </p:txBody>
      </p:sp>
    </p:spTree>
    <p:extLst>
      <p:ext uri="{BB962C8B-B14F-4D97-AF65-F5344CB8AC3E}">
        <p14:creationId xmlns:p14="http://schemas.microsoft.com/office/powerpoint/2010/main" val="50776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Containerisation</a:t>
            </a:r>
            <a:br>
              <a:rPr lang="da-DK" dirty="0"/>
            </a:br>
            <a:r>
              <a:rPr lang="da-DK" dirty="0"/>
              <a:t>Basics</a:t>
            </a:r>
          </a:p>
        </p:txBody>
      </p:sp>
    </p:spTree>
    <p:extLst>
      <p:ext uri="{BB962C8B-B14F-4D97-AF65-F5344CB8AC3E}">
        <p14:creationId xmlns:p14="http://schemas.microsoft.com/office/powerpoint/2010/main" val="2953972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2B70-4A09-2F52-6288-DDC6D99E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</a:t>
            </a:r>
            <a:r>
              <a:rPr lang="en-GB" dirty="0"/>
              <a:t>containerisation</a:t>
            </a:r>
            <a:r>
              <a:rPr lang="en-DK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5471-8DA7-E4F8-618A-AFD50E2CBA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671381" cy="4442517"/>
          </a:xfrm>
        </p:spPr>
        <p:txBody>
          <a:bodyPr>
            <a:normAutofit/>
          </a:bodyPr>
          <a:lstStyle/>
          <a:p>
            <a:r>
              <a:rPr lang="en-DK" dirty="0"/>
              <a:t>Fixer “</a:t>
            </a:r>
            <a:r>
              <a:rPr lang="en-DK" b="1" dirty="0"/>
              <a:t>Works on my machine</a:t>
            </a:r>
            <a:r>
              <a:rPr lang="en-DK" dirty="0"/>
              <a:t>” problemet.</a:t>
            </a:r>
          </a:p>
          <a:p>
            <a:pPr lvl="1"/>
            <a:r>
              <a:rPr lang="en-DK" dirty="0"/>
              <a:t>Containers er (stort set) deterministiske.</a:t>
            </a:r>
          </a:p>
          <a:p>
            <a:pPr lvl="1"/>
            <a:r>
              <a:rPr lang="en-DK" u="sng" dirty="0"/>
              <a:t>Et bygget container image, fungerer ens uanset hvor det køres.</a:t>
            </a:r>
            <a:br>
              <a:rPr lang="en-DK" dirty="0"/>
            </a:br>
            <a:endParaRPr lang="en-DK" dirty="0"/>
          </a:p>
          <a:p>
            <a:r>
              <a:rPr lang="en-DK" dirty="0"/>
              <a:t>Fixer “</a:t>
            </a:r>
            <a:r>
              <a:rPr lang="en-DK" b="1" dirty="0"/>
              <a:t>Dependency hell</a:t>
            </a:r>
            <a:r>
              <a:rPr lang="en-DK" dirty="0"/>
              <a:t>”</a:t>
            </a:r>
          </a:p>
          <a:p>
            <a:pPr lvl="1"/>
            <a:r>
              <a:rPr lang="en-DK" dirty="0"/>
              <a:t>🛑 “Hvilken version af java, tomcat og </a:t>
            </a:r>
            <a:r>
              <a:rPr lang="en-GB" dirty="0"/>
              <a:t>JDBC var det nu </a:t>
            </a:r>
            <a:r>
              <a:rPr lang="en-DK" dirty="0"/>
              <a:t>vi skulle have på serveren?”</a:t>
            </a:r>
          </a:p>
          <a:p>
            <a:pPr lvl="1"/>
            <a:r>
              <a:rPr lang="en-DK" dirty="0"/>
              <a:t>🛑 “Har du installeret </a:t>
            </a:r>
            <a:r>
              <a:rPr lang="en-GB" dirty="0" err="1"/>
              <a:t>libpq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DK" dirty="0"/>
              <a:t>lagt ffmpeg i den rigtige mappe?”</a:t>
            </a:r>
          </a:p>
          <a:p>
            <a:pPr lvl="1"/>
            <a:r>
              <a:rPr lang="en-DK" u="sng" dirty="0"/>
              <a:t>Containerised apps er pakket med alle nødvendige runtime dependencies. 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Dynamisk deling af ressourcer</a:t>
            </a:r>
          </a:p>
          <a:p>
            <a:pPr lvl="1"/>
            <a:r>
              <a:rPr lang="en-DK" dirty="0"/>
              <a:t>Containere deler tilgængelige ressourcer uden unødig reservation ift. peak.</a:t>
            </a:r>
          </a:p>
          <a:p>
            <a:pPr lvl="1"/>
            <a:r>
              <a:rPr lang="en-DK" dirty="0"/>
              <a:t>Containerised apps kan hurtigt startes op og lukkes ned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Responsiv skalering.</a:t>
            </a:r>
          </a:p>
        </p:txBody>
      </p:sp>
    </p:spTree>
    <p:extLst>
      <p:ext uri="{BB962C8B-B14F-4D97-AF65-F5344CB8AC3E}">
        <p14:creationId xmlns:p14="http://schemas.microsoft.com/office/powerpoint/2010/main" val="3117918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58FE7-8AF9-4619-03CB-C9AD5E6B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AF3AC-F2C4-D5D1-71B3-6C6B6889B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</a:t>
            </a:r>
            <a:r>
              <a:rPr lang="en-GB" dirty="0"/>
              <a:t>containerisation</a:t>
            </a:r>
            <a:r>
              <a:rPr lang="en-DK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A162C-C44F-9DC2-8184-5AB01B4A3C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671381" cy="4442517"/>
          </a:xfrm>
        </p:spPr>
        <p:txBody>
          <a:bodyPr>
            <a:normAutofit/>
          </a:bodyPr>
          <a:lstStyle/>
          <a:p>
            <a:r>
              <a:rPr lang="en-GB" b="1" dirty="0" err="1"/>
              <a:t>Automatisering</a:t>
            </a:r>
            <a:r>
              <a:rPr lang="en-GB" dirty="0"/>
              <a:t>: </a:t>
            </a:r>
            <a:r>
              <a:rPr lang="en-GB" dirty="0" err="1"/>
              <a:t>Hurtigere</a:t>
            </a:r>
            <a:r>
              <a:rPr lang="en-GB" dirty="0"/>
              <a:t> </a:t>
            </a:r>
            <a:r>
              <a:rPr lang="en-GB" dirty="0" err="1"/>
              <a:t>fra</a:t>
            </a:r>
            <a:r>
              <a:rPr lang="en-GB" dirty="0"/>
              <a:t> </a:t>
            </a:r>
            <a:r>
              <a:rPr lang="en-GB" dirty="0" err="1"/>
              <a:t>kode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idriftsættelse</a:t>
            </a:r>
            <a:r>
              <a:rPr lang="en-GB" dirty="0"/>
              <a:t> (time-to-market).</a:t>
            </a:r>
          </a:p>
          <a:p>
            <a:pPr lvl="1"/>
            <a:r>
              <a:rPr lang="en-GB" dirty="0" err="1"/>
              <a:t>Applikationers</a:t>
            </a:r>
            <a:r>
              <a:rPr lang="en-GB" dirty="0"/>
              <a:t> </a:t>
            </a:r>
            <a:r>
              <a:rPr lang="en-GB" dirty="0" err="1"/>
              <a:t>afhængigheder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bygge-konventioner</a:t>
            </a:r>
            <a:r>
              <a:rPr lang="en-GB" dirty="0"/>
              <a:t> </a:t>
            </a:r>
            <a:r>
              <a:rPr lang="en-GB" dirty="0" err="1"/>
              <a:t>nedfældes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maskinlæsbar</a:t>
            </a:r>
            <a:r>
              <a:rPr lang="en-GB" dirty="0"/>
              <a:t> </a:t>
            </a:r>
            <a:r>
              <a:rPr lang="en-GB" dirty="0" err="1"/>
              <a:t>kode</a:t>
            </a:r>
            <a:r>
              <a:rPr lang="en-GB" dirty="0"/>
              <a:t>.</a:t>
            </a:r>
          </a:p>
          <a:p>
            <a:pPr lvl="1"/>
            <a:r>
              <a:rPr lang="en-GB" dirty="0" err="1"/>
              <a:t>Maskinlæsbar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 err="1"/>
              <a:t>Automatiserbar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Extensibility &amp; Composability</a:t>
            </a:r>
            <a:r>
              <a:rPr lang="en-GB" dirty="0"/>
              <a:t>: Alt </a:t>
            </a:r>
            <a:r>
              <a:rPr lang="en-GB" dirty="0" err="1"/>
              <a:t>kan</a:t>
            </a:r>
            <a:r>
              <a:rPr lang="en-GB" dirty="0"/>
              <a:t> </a:t>
            </a:r>
            <a:r>
              <a:rPr lang="en-GB" dirty="0" err="1"/>
              <a:t>bygges</a:t>
            </a:r>
            <a:r>
              <a:rPr lang="en-GB" dirty="0"/>
              <a:t> </a:t>
            </a:r>
            <a:r>
              <a:rPr lang="en-GB" dirty="0" err="1"/>
              <a:t>videre</a:t>
            </a:r>
            <a:r>
              <a:rPr lang="en-GB" dirty="0"/>
              <a:t> </a:t>
            </a:r>
            <a:r>
              <a:rPr lang="en-GB" dirty="0" err="1"/>
              <a:t>på</a:t>
            </a:r>
            <a:r>
              <a:rPr lang="en-GB" dirty="0"/>
              <a:t>, stables oven </a:t>
            </a:r>
            <a:r>
              <a:rPr lang="en-GB" dirty="0" err="1"/>
              <a:t>på</a:t>
            </a:r>
            <a:r>
              <a:rPr lang="en-GB" dirty="0"/>
              <a:t> </a:t>
            </a:r>
            <a:r>
              <a:rPr lang="en-GB" dirty="0" err="1"/>
              <a:t>hinanden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sættes</a:t>
            </a:r>
            <a:r>
              <a:rPr lang="en-GB" dirty="0"/>
              <a:t> </a:t>
            </a:r>
            <a:r>
              <a:rPr lang="en-GB" dirty="0" err="1"/>
              <a:t>sammen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komplekse</a:t>
            </a:r>
            <a:r>
              <a:rPr lang="en-GB" dirty="0"/>
              <a:t> </a:t>
            </a:r>
            <a:r>
              <a:rPr lang="en-GB" dirty="0" err="1"/>
              <a:t>systemer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Toolchain simplicity</a:t>
            </a:r>
            <a:r>
              <a:rPr lang="en-GB" dirty="0"/>
              <a:t>: “All you need is Docker”</a:t>
            </a:r>
          </a:p>
          <a:p>
            <a:pPr lvl="1"/>
            <a:r>
              <a:rPr lang="en-GB" dirty="0"/>
              <a:t>Din container runtime </a:t>
            </a:r>
            <a:r>
              <a:rPr lang="en-GB" dirty="0" err="1"/>
              <a:t>kan</a:t>
            </a:r>
            <a:r>
              <a:rPr lang="en-GB" dirty="0"/>
              <a:t> </a:t>
            </a:r>
            <a:r>
              <a:rPr lang="en-GB" dirty="0" err="1"/>
              <a:t>hente</a:t>
            </a:r>
            <a:r>
              <a:rPr lang="en-GB" dirty="0"/>
              <a:t> alle </a:t>
            </a:r>
            <a:r>
              <a:rPr lang="en-GB" dirty="0" err="1"/>
              <a:t>andre</a:t>
            </a:r>
            <a:r>
              <a:rPr lang="en-GB" dirty="0"/>
              <a:t> </a:t>
            </a:r>
            <a:r>
              <a:rPr lang="en-GB" dirty="0" err="1"/>
              <a:t>nødvendige</a:t>
            </a:r>
            <a:r>
              <a:rPr lang="en-GB" dirty="0"/>
              <a:t> </a:t>
            </a:r>
            <a:r>
              <a:rPr lang="en-GB" dirty="0" err="1"/>
              <a:t>værktøjer</a:t>
            </a:r>
            <a:r>
              <a:rPr lang="en-GB" dirty="0"/>
              <a:t> (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slags app-store).</a:t>
            </a:r>
          </a:p>
          <a:p>
            <a:pPr lvl="1"/>
            <a:r>
              <a:rPr lang="en-GB" dirty="0"/>
              <a:t>Docker var </a:t>
            </a:r>
            <a:r>
              <a:rPr lang="en-GB" dirty="0" err="1"/>
              <a:t>første</a:t>
            </a:r>
            <a:r>
              <a:rPr lang="en-GB" dirty="0"/>
              <a:t> container runtime </a:t>
            </a:r>
            <a:r>
              <a:rPr lang="en-GB" dirty="0" err="1"/>
              <a:t>på</a:t>
            </a:r>
            <a:r>
              <a:rPr lang="en-GB" dirty="0"/>
              <a:t> </a:t>
            </a:r>
            <a:r>
              <a:rPr lang="en-GB" dirty="0" err="1"/>
              <a:t>markedet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/>
              <a:t>Nu </a:t>
            </a:r>
            <a:r>
              <a:rPr lang="en-GB" dirty="0" err="1"/>
              <a:t>har</a:t>
            </a:r>
            <a:r>
              <a:rPr lang="en-GB" dirty="0"/>
              <a:t> vi </a:t>
            </a:r>
            <a:r>
              <a:rPr lang="en-GB" dirty="0" err="1"/>
              <a:t>en</a:t>
            </a:r>
            <a:r>
              <a:rPr lang="en-GB" dirty="0"/>
              <a:t> standard </a:t>
            </a:r>
            <a:r>
              <a:rPr lang="en-GB" dirty="0" err="1"/>
              <a:t>kaldet</a:t>
            </a:r>
            <a:r>
              <a:rPr lang="en-GB" dirty="0"/>
              <a:t> </a:t>
            </a:r>
            <a:r>
              <a:rPr lang="en-GB" b="1" dirty="0"/>
              <a:t>Open Container Initiative (OCI)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derfor</a:t>
            </a:r>
            <a:r>
              <a:rPr lang="en-GB" dirty="0"/>
              <a:t> mange </a:t>
            </a:r>
            <a:r>
              <a:rPr lang="en-GB" dirty="0" err="1"/>
              <a:t>alternativer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6488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– </a:t>
            </a:r>
            <a:r>
              <a:rPr lang="da-DK" dirty="0"/>
              <a:t>Smagsprøve på gevinsterne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Hent og start self-contained produkter på sekunder</a:t>
            </a:r>
          </a:p>
          <a:p>
            <a:pPr marL="457200" lvl="1" indent="0">
              <a:buNone/>
            </a:pPr>
            <a:r>
              <a:rPr lang="en-DK" dirty="0"/>
              <a:t>Fx. Postgres, ElasticSearch, Redis, RabbitMQ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Opsæt komplekse systemer af flere containers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Udvikler onboarding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Forudsigelig &amp; automatiseret udrulning (i flere platforme og miljøer)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B830F-9D0B-DB68-45EC-190CB59CA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container anyway?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CE9F9E-8AAA-5F23-948B-6E68FBF06D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1448316"/>
            <a:ext cx="10679349" cy="4631471"/>
          </a:xfrm>
        </p:spPr>
        <p:txBody>
          <a:bodyPr>
            <a:normAutofit/>
          </a:bodyPr>
          <a:lstStyle/>
          <a:p>
            <a:r>
              <a:rPr lang="en-GB" sz="2000" dirty="0">
                <a:latin typeface="+mn-lt"/>
              </a:rPr>
              <a:t>A container image is </a:t>
            </a:r>
            <a:r>
              <a:rPr lang="en-GB" sz="2000" b="1" dirty="0">
                <a:latin typeface="+mn-lt"/>
              </a:rPr>
              <a:t>a packaged filesystem </a:t>
            </a:r>
            <a:r>
              <a:rPr lang="en-GB" sz="2000" dirty="0">
                <a:latin typeface="+mn-lt"/>
              </a:rPr>
              <a:t>containing an application, its runtime, libraries, dependencies, and configuration.</a:t>
            </a:r>
          </a:p>
          <a:p>
            <a:r>
              <a:rPr lang="en-GB" sz="2000" dirty="0">
                <a:latin typeface="+mn-lt"/>
              </a:rPr>
              <a:t>The same image runs consistently on your laptop, your coworker’s machine, and in the cloud.</a:t>
            </a:r>
          </a:p>
          <a:p>
            <a:endParaRPr lang="en-GB" sz="6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A container is not a VM!</a:t>
            </a:r>
            <a:br>
              <a:rPr lang="en-GB" sz="2000" dirty="0">
                <a:latin typeface="+mn-lt"/>
              </a:rPr>
            </a:br>
            <a:r>
              <a:rPr lang="en-GB" sz="2000" dirty="0">
                <a:latin typeface="+mn-lt"/>
              </a:rPr>
              <a:t>It’s just a </a:t>
            </a:r>
            <a:r>
              <a:rPr lang="en-GB" sz="2000" b="1" dirty="0">
                <a:latin typeface="+mn-lt"/>
              </a:rPr>
              <a:t>sandboxed Linux process </a:t>
            </a:r>
            <a:r>
              <a:rPr lang="en-GB" sz="2000" dirty="0">
                <a:latin typeface="+mn-lt"/>
              </a:rPr>
              <a:t>-</a:t>
            </a:r>
            <a:r>
              <a:rPr lang="en-GB" sz="2000" b="1" dirty="0">
                <a:latin typeface="+mn-lt"/>
              </a:rPr>
              <a:t> </a:t>
            </a:r>
            <a:r>
              <a:rPr lang="en-GB" sz="2000" dirty="0">
                <a:latin typeface="+mn-lt"/>
              </a:rPr>
              <a:t>isolated using modern kernel features.</a:t>
            </a:r>
          </a:p>
          <a:p>
            <a:pPr marL="1028700" lvl="1" indent="-342900"/>
            <a:r>
              <a:rPr lang="en-GB" sz="1400" dirty="0"/>
              <a:t>Much </a:t>
            </a:r>
            <a:r>
              <a:rPr lang="en-GB" sz="1400" b="1" dirty="0"/>
              <a:t>lighter and faster </a:t>
            </a:r>
            <a:r>
              <a:rPr lang="en-GB" sz="1400" dirty="0"/>
              <a:t>to start than virtual machines.</a:t>
            </a:r>
          </a:p>
          <a:p>
            <a:pPr marL="1028700" lvl="1" indent="-342900"/>
            <a:r>
              <a:rPr lang="en-GB" sz="1400" dirty="0">
                <a:latin typeface="+mn-lt"/>
              </a:rPr>
              <a:t>Containers </a:t>
            </a:r>
            <a:r>
              <a:rPr lang="en-GB" sz="1400" b="1" dirty="0">
                <a:latin typeface="+mn-lt"/>
              </a:rPr>
              <a:t>share the Host OS kernel.</a:t>
            </a:r>
          </a:p>
          <a:p>
            <a:pPr marL="1028700" lvl="1" indent="-342900"/>
            <a:r>
              <a:rPr lang="en-GB" sz="1400" dirty="0"/>
              <a:t>But have their own network &amp; users.</a:t>
            </a:r>
            <a:br>
              <a:rPr lang="en-GB" sz="2000" dirty="0">
                <a:latin typeface="+mn-lt"/>
              </a:rPr>
            </a:br>
            <a:endParaRPr lang="en-GB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A container has its own </a:t>
            </a:r>
            <a:r>
              <a:rPr lang="en-GB" sz="2000" b="1" dirty="0">
                <a:latin typeface="+mn-lt"/>
              </a:rPr>
              <a:t>isolated filesystem</a:t>
            </a:r>
            <a:r>
              <a:rPr lang="en-GB" sz="2000" dirty="0">
                <a:latin typeface="+mn-lt"/>
              </a:rPr>
              <a:t>, which is all it sees when running.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ADD10-DF94-82AF-9A30-AA78F9068BF4}"/>
              </a:ext>
            </a:extLst>
          </p:cNvPr>
          <p:cNvSpPr txBox="1"/>
          <p:nvPr/>
        </p:nvSpPr>
        <p:spPr>
          <a:xfrm>
            <a:off x="2354497" y="5271222"/>
            <a:ext cx="9163051" cy="8085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sz="2000" dirty="0"/>
              <a:t>A container can be seen as a sort of “parasite” on its host. Allowed to use some of its resources, but being completely isolated in its own little world.</a:t>
            </a:r>
          </a:p>
        </p:txBody>
      </p:sp>
    </p:spTree>
    <p:extLst>
      <p:ext uri="{BB962C8B-B14F-4D97-AF65-F5344CB8AC3E}">
        <p14:creationId xmlns:p14="http://schemas.microsoft.com/office/powerpoint/2010/main" val="376993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32741C8-0C88-3468-D445-B18374559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040" y="251027"/>
            <a:ext cx="9533919" cy="635594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F99164-DC26-7097-7825-CB14FC96CF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639" t="10916"/>
          <a:stretch>
            <a:fillRect/>
          </a:stretch>
        </p:blipFill>
        <p:spPr>
          <a:xfrm>
            <a:off x="6156960" y="944880"/>
            <a:ext cx="4705999" cy="566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22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3872363" y="5167312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Docker creates and runs containers, while Kubernetes also ensures those containers stay available, scalable, and reliable 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08" t="12569" r="7371" b="1885"/>
          <a:stretch>
            <a:fillRect/>
          </a:stretch>
        </p:blipFill>
        <p:spPr>
          <a:xfrm>
            <a:off x="1808481" y="365760"/>
            <a:ext cx="8768080" cy="59944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670000D-AAA9-4197-95E7-805E862D5A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907" t="40844" r="7372" b="23923"/>
          <a:stretch>
            <a:fillRect/>
          </a:stretch>
        </p:blipFill>
        <p:spPr>
          <a:xfrm>
            <a:off x="5770880" y="2346960"/>
            <a:ext cx="4805681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40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Også legoklodser vi ikke selv kender opskriften på eller har bygget.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Legoklodser kan hentes fra forskellige forretninger (repositories).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Vi kan bygge vores egen legoklodser ovenpå andres.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C4121-38EC-EF2C-9151-BDACBCBFF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4727" y="341484"/>
            <a:ext cx="9262546" cy="6175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971C68-95C2-D1B8-622B-609A03D8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1509" y="720094"/>
            <a:ext cx="2292449" cy="19411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Dockerfile, Images og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</a:t>
            </a:r>
            <a:r>
              <a:rPr lang="en-DK" sz="2000" dirty="0">
                <a:sym typeface="Wingdings" pitchFamily="2" charset="2"/>
              </a:rPr>
              <a:t></a:t>
            </a:r>
            <a:r>
              <a:rPr lang="en-DK" sz="2000" dirty="0"/>
              <a:t> Opskrift på et container image.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</a:t>
            </a:r>
            <a:r>
              <a:rPr lang="en-DK" sz="2000" dirty="0">
                <a:sym typeface="Wingdings" pitchFamily="2" charset="2"/>
              </a:rPr>
              <a:t></a:t>
            </a:r>
            <a:r>
              <a:rPr lang="en-DK" sz="2000" dirty="0"/>
              <a:t> Den færdigbyggede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</p:spTree>
    <p:extLst>
      <p:ext uri="{BB962C8B-B14F-4D97-AF65-F5344CB8AC3E}">
        <p14:creationId xmlns:p14="http://schemas.microsoft.com/office/powerpoint/2010/main" val="3651650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13743-FF60-FD3A-A372-B2BD3C2BC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CLI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D300F70-9F91-E810-D533-9B5134A1AA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5281832"/>
              </p:ext>
            </p:extLst>
          </p:nvPr>
        </p:nvGraphicFramePr>
        <p:xfrm>
          <a:off x="3024566" y="1647730"/>
          <a:ext cx="6142867" cy="4459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83181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949A1-55EB-4D60-5045-857C29D40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837A228-E6AA-21DD-2055-E3DC114473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ABCCA38-A6D5-0DD0-BDB4-BD4E8C550E1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Dockerfile</a:t>
            </a:r>
            <a:br>
              <a:rPr lang="da-DK" dirty="0"/>
            </a:br>
            <a:r>
              <a:rPr lang="da-DK" sz="2800" dirty="0">
                <a:solidFill>
                  <a:schemeClr val="accent1"/>
                </a:solidFill>
              </a:rPr>
              <a:t>Container opskriften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867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FF5E85-8E5D-CD76-CA24-01AB519C2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261" y="364542"/>
            <a:ext cx="10579477" cy="57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861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5F97B-F5D0-6993-1CB4-786950FCE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Basic Dockerfile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D820F-F1DB-EDD8-B2D3-DE39648EA8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En Dockerfile er vores </a:t>
            </a:r>
            <a:r>
              <a:rPr lang="en-DK" b="1" dirty="0"/>
              <a:t>opskrift</a:t>
            </a:r>
            <a:r>
              <a:rPr lang="en-DK" dirty="0"/>
              <a:t> på at bygge et genbrugeligt container image.</a:t>
            </a:r>
          </a:p>
          <a:p>
            <a:r>
              <a:rPr lang="en-DK" dirty="0"/>
              <a:t>En Dockerfile består af linjer med instruktioner “</a:t>
            </a:r>
            <a:r>
              <a:rPr lang="en-DK" dirty="0">
                <a:solidFill>
                  <a:srgbClr val="0074D9"/>
                </a:solidFill>
              </a:rPr>
              <a:t>VERB</a:t>
            </a:r>
            <a:r>
              <a:rPr lang="en-DK" dirty="0"/>
              <a:t> params”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Filename: Dockerfile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20FA35-C5E6-5D6A-DCC1-3C35D0A299FA}"/>
              </a:ext>
            </a:extLst>
          </p:cNvPr>
          <p:cNvSpPr txBox="1"/>
          <p:nvPr/>
        </p:nvSpPr>
        <p:spPr>
          <a:xfrm>
            <a:off x="838065" y="3301386"/>
            <a:ext cx="8325600" cy="267765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DK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docker.io/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ubuntu:24.04</a:t>
            </a:r>
            <a:b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root </a:t>
            </a:r>
            <a:r>
              <a:rPr lang="en-DK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(implicit)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apt update &amp;&amp; apt install -y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openjdk-21-jdk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/app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Hello.java .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</a:t>
            </a:r>
            <a:r>
              <a:rPr lang="en-DK" sz="24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javac Hello.java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 [</a:t>
            </a:r>
            <a:r>
              <a:rPr lang="en-GB" sz="2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"java"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endParaRPr lang="en-DK" sz="24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1034A-EE9B-E718-09C3-861EE5B22A6A}"/>
              </a:ext>
            </a:extLst>
          </p:cNvPr>
          <p:cNvSpPr txBox="1"/>
          <p:nvPr/>
        </p:nvSpPr>
        <p:spPr>
          <a:xfrm>
            <a:off x="2207823" y="6133205"/>
            <a:ext cx="6955842" cy="37457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sz="1600" dirty="0"/>
              <a:t>Virker en Dockerfile så kun med Docker CLI’en? Nej - navnet har bare hængt fast </a:t>
            </a:r>
            <a:endParaRPr lang="en-GB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6D344-0BFC-8620-2CD9-3CFFD4F5D898}"/>
              </a:ext>
            </a:extLst>
          </p:cNvPr>
          <p:cNvSpPr txBox="1"/>
          <p:nvPr/>
        </p:nvSpPr>
        <p:spPr>
          <a:xfrm>
            <a:off x="9468465" y="3301386"/>
            <a:ext cx="26252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1. Setup base environment and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5F54D1-6855-9B0E-B352-863CA4DA4EF5}"/>
              </a:ext>
            </a:extLst>
          </p:cNvPr>
          <p:cNvSpPr txBox="1"/>
          <p:nvPr/>
        </p:nvSpPr>
        <p:spPr>
          <a:xfrm>
            <a:off x="9468465" y="4644610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2. Copy in your source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AEB41-FFF5-A1DB-D2D0-22C13846190A}"/>
              </a:ext>
            </a:extLst>
          </p:cNvPr>
          <p:cNvSpPr txBox="1"/>
          <p:nvPr/>
        </p:nvSpPr>
        <p:spPr>
          <a:xfrm>
            <a:off x="9468465" y="5104196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3. Build your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68C2C-59DF-5BB0-3B88-835C1964B7D7}"/>
              </a:ext>
            </a:extLst>
          </p:cNvPr>
          <p:cNvSpPr txBox="1"/>
          <p:nvPr/>
        </p:nvSpPr>
        <p:spPr>
          <a:xfrm>
            <a:off x="9468465" y="5563783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4. Define startup</a:t>
            </a:r>
          </a:p>
        </p:txBody>
      </p:sp>
    </p:spTree>
    <p:extLst>
      <p:ext uri="{BB962C8B-B14F-4D97-AF65-F5344CB8AC3E}">
        <p14:creationId xmlns:p14="http://schemas.microsoft.com/office/powerpoint/2010/main" val="72003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/>
      <p:bldP spid="7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D5FB9-F1BF-C2AE-6EEF-1C756BDE8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Instructions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6AF114-1BBE-8CBD-EDF1-0379DA8191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346886"/>
            <a:ext cx="10515600" cy="514598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DK" b="1" dirty="0"/>
              <a:t>Setup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repo/image-name:version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(default repo: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docker.io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/src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not-root</a:t>
            </a:r>
          </a:p>
          <a:p>
            <a:pPr marL="0" indent="0">
              <a:buNone/>
            </a:pPr>
            <a:r>
              <a:rPr lang="en-DK" b="1" dirty="0"/>
              <a:t>Modification (image build)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ADD/COPY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./src1 ./src2 ./srcN /dest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apt install -y curl &amp;&amp; apt clean</a:t>
            </a:r>
          </a:p>
          <a:p>
            <a:pPr marL="0" indent="0">
              <a:buNone/>
            </a:pPr>
            <a:r>
              <a:rPr lang="en-DK" b="1" dirty="0"/>
              <a:t>Injection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FOO=bar </a:t>
            </a:r>
            <a:r>
              <a:rPr lang="en-DK" dirty="0"/>
              <a:t>(runtime)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BUILD_SECRET=abc </a:t>
            </a:r>
            <a:r>
              <a:rPr lang="en-DK" dirty="0"/>
              <a:t>(build-time)</a:t>
            </a:r>
          </a:p>
          <a:p>
            <a:pPr marL="0" indent="0">
              <a:buNone/>
            </a:pPr>
            <a:r>
              <a:rPr lang="en-DK" b="1" dirty="0"/>
              <a:t>Execution (container runtime)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[“java”]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[“-jar”, “my-app.jar”, “--arg”, “foo”]</a:t>
            </a:r>
          </a:p>
          <a:p>
            <a:pPr marL="0" indent="0">
              <a:buNone/>
            </a:pPr>
            <a:r>
              <a:rPr lang="en-DK" b="1" dirty="0"/>
              <a:t>Documentation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80/tcp</a:t>
            </a:r>
            <a:endParaRPr lang="en-DK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LABEL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description=“My app”</a:t>
            </a:r>
          </a:p>
          <a:p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9BF51E-1B59-4953-9AC9-A86BBEA69DDF}"/>
              </a:ext>
            </a:extLst>
          </p:cNvPr>
          <p:cNvSpPr txBox="1"/>
          <p:nvPr/>
        </p:nvSpPr>
        <p:spPr>
          <a:xfrm>
            <a:off x="7356105" y="5569545"/>
            <a:ext cx="47449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Reference:</a:t>
            </a:r>
            <a:endParaRPr lang="en-GB" dirty="0">
              <a:solidFill>
                <a:srgbClr val="0563C1"/>
              </a:solidFill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GB" dirty="0">
                <a:solidFill>
                  <a:srgbClr val="0563C1"/>
                </a:solid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https://docs.docker.com/reference/dockerfile/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2818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C23F7A6-E0BE-2FB6-C8A0-B74526F90A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3.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B10CD2-0A25-11EB-B624-1BFD3BF12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Exercise: Basics</a:t>
            </a:r>
            <a:br>
              <a:rPr lang="en-DK" dirty="0"/>
            </a:br>
            <a:r>
              <a:rPr lang="en-DK" sz="2400" dirty="0"/>
              <a:t>Let’s build a basic container image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5083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A33A0-BE41-8AA3-13F7-AD1857CD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42E8D-839C-273D-9431-74AA50105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build a container image!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53454-DCC9-CDAD-DA58-2B03C09C4C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Fetch workshop repo</a:t>
            </a:r>
            <a:br>
              <a:rPr lang="en-DK" dirty="0"/>
            </a:br>
            <a:r>
              <a:rPr lang="en-GB" dirty="0">
                <a:hlinkClick r:id="rId3"/>
              </a:rPr>
              <a:t>https://github.com/Notalib/workshop-containerisation</a:t>
            </a:r>
            <a:endParaRPr lang="en-GB" dirty="0"/>
          </a:p>
          <a:p>
            <a:pPr marL="457200" indent="-457200">
              <a:buFont typeface="+mj-lt"/>
              <a:buAutoNum type="arabicPeriod"/>
            </a:pPr>
            <a:r>
              <a:rPr lang="da-DK" dirty="0"/>
              <a:t>Read the top part of </a:t>
            </a:r>
            <a:r>
              <a:rPr lang="da-DK" dirty="0" err="1">
                <a:solidFill>
                  <a:srgbClr val="005DE0"/>
                </a:solidFill>
              </a:rPr>
              <a:t>README.md</a:t>
            </a:r>
            <a:endParaRPr lang="en-DK" dirty="0">
              <a:solidFill>
                <a:srgbClr val="005DE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Suggest starting with </a:t>
            </a:r>
            <a:r>
              <a:rPr lang="en-DK" dirty="0">
                <a:solidFill>
                  <a:srgbClr val="005DE0"/>
                </a:solidFill>
              </a:rPr>
              <a:t>1-ubuntu-debugger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Then pick app using your preferred language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Complete the Dockerfile for that language (see TODOs)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Make sure it builds</a:t>
            </a:r>
            <a:br>
              <a:rPr lang="en-DK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build . --tag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Make sure it runs (correctly)</a:t>
            </a:r>
            <a:br>
              <a:rPr lang="en-DK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app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0211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74FE9-35AD-3DFB-78B1-62B5B8209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DB19A-47BB-13B6-3AA5-C97063671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Basics - Retrospective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889C6-BDC1-C9E3-033D-CFFB5677E8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Let’s look at a solution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 you debug a </a:t>
            </a:r>
            <a:r>
              <a:rPr lang="en-GB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Dockerfile</a:t>
            </a: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25704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DCC5-BC6A-8F32-A8F7-CC114E73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0563CC-0208-CB9B-4144-33B08BDACA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DK" dirty="0"/>
              <a:t>4.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935481-2A26-BBCB-DF16-13F5DF2B0A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5761990" cy="2884543"/>
          </a:xfrm>
        </p:spPr>
        <p:txBody>
          <a:bodyPr/>
          <a:lstStyle/>
          <a:p>
            <a:r>
              <a:rPr lang="en-DK" dirty="0"/>
              <a:t>Layers &amp; Base-images</a:t>
            </a:r>
          </a:p>
        </p:txBody>
      </p:sp>
    </p:spTree>
    <p:extLst>
      <p:ext uri="{BB962C8B-B14F-4D97-AF65-F5344CB8AC3E}">
        <p14:creationId xmlns:p14="http://schemas.microsoft.com/office/powerpoint/2010/main" val="4203021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1393-F536-8CE3-2F5C-908A91204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Stages &amp; Layers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A1EB18-7D1E-47AF-502A-3DF428F74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Layer:</a:t>
            </a:r>
            <a:r>
              <a:rPr lang="en-DK" dirty="0"/>
              <a:t> Each </a:t>
            </a:r>
            <a:r>
              <a:rPr lang="en-DK" dirty="0">
                <a:solidFill>
                  <a:srgbClr val="0074D9"/>
                </a:solidFill>
              </a:rPr>
              <a:t>INSTRUCTION </a:t>
            </a:r>
            <a:r>
              <a:rPr lang="en-DK" dirty="0"/>
              <a:t>creates a new layer in the image.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Layers are “overlayed/stacked” on-top of eachother to create a filesystem.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Pull image  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Fetch all layers individually.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Push image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Upload all layers individually.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Number of instructions and their order = Very important for speed and size of image.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Stage:</a:t>
            </a:r>
            <a:r>
              <a:rPr lang="en-DK" dirty="0"/>
              <a:t> </a:t>
            </a:r>
            <a:r>
              <a:rPr lang="en-DK" dirty="0">
                <a:solidFill>
                  <a:srgbClr val="0074D9"/>
                </a:solidFill>
              </a:rPr>
              <a:t>FROM</a:t>
            </a:r>
            <a:r>
              <a:rPr lang="en-DK" dirty="0"/>
              <a:t> image </a:t>
            </a:r>
            <a:r>
              <a:rPr lang="en-DK" dirty="0">
                <a:solidFill>
                  <a:srgbClr val="0074D9"/>
                </a:solidFill>
              </a:rPr>
              <a:t>AS</a:t>
            </a:r>
            <a:r>
              <a:rPr lang="en-DK" dirty="0"/>
              <a:t> stage-name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Allows for splitting the container build process into discrete stages.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Change images in the middle of a Dockerfile. E.g. use smaller image for runtime than build.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Allows to build many images from single Dockerfile. E.g. small variations with extra tools.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87584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7925-3164-06D0-7EC2-9820B2ED4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Layers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C9C6C-FFB5-FFFE-7D24-0DC312DFC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1" y="2253328"/>
            <a:ext cx="7053653" cy="4141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21DAF4-E5E1-F0EB-EC9E-61D8AFCBFCD4}"/>
              </a:ext>
            </a:extLst>
          </p:cNvPr>
          <p:cNvCxnSpPr>
            <a:cxnSpLocks/>
          </p:cNvCxnSpPr>
          <p:nvPr/>
        </p:nvCxnSpPr>
        <p:spPr>
          <a:xfrm flipH="1">
            <a:off x="7519086" y="4707926"/>
            <a:ext cx="1377779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43124E7-FC68-D2AA-C7CD-42289043DA3D}"/>
              </a:ext>
            </a:extLst>
          </p:cNvPr>
          <p:cNvSpPr txBox="1"/>
          <p:nvPr/>
        </p:nvSpPr>
        <p:spPr>
          <a:xfrm>
            <a:off x="8896865" y="4523260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</a:t>
            </a:r>
            <a:r>
              <a:rPr lang="en-DK" dirty="0"/>
              <a:t>ocker (re-)builds from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E241F7-B729-2120-5680-64C21EDAD6B4}"/>
              </a:ext>
            </a:extLst>
          </p:cNvPr>
          <p:cNvSpPr txBox="1"/>
          <p:nvPr/>
        </p:nvSpPr>
        <p:spPr>
          <a:xfrm>
            <a:off x="8896864" y="4178300"/>
            <a:ext cx="2916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If Makefile was modified,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BC494-D2C5-1B30-2184-E0760820D39A}"/>
              </a:ext>
            </a:extLst>
          </p:cNvPr>
          <p:cNvSpPr txBox="1"/>
          <p:nvPr/>
        </p:nvSpPr>
        <p:spPr>
          <a:xfrm>
            <a:off x="838200" y="1493836"/>
            <a:ext cx="9220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"/>
              </a:rPr>
              <a:t>“</a:t>
            </a:r>
            <a:r>
              <a:rPr lang="en-GB" dirty="0">
                <a:latin typeface=""/>
              </a:rPr>
              <a:t>Each instruction in a </a:t>
            </a:r>
            <a:r>
              <a:rPr lang="en-GB" dirty="0" err="1">
                <a:latin typeface=""/>
              </a:rPr>
              <a:t>Dockerfile</a:t>
            </a:r>
            <a:r>
              <a:rPr lang="en-GB" dirty="0">
                <a:latin typeface=""/>
              </a:rPr>
              <a:t> translates to a layer in your final image …</a:t>
            </a:r>
            <a:br>
              <a:rPr lang="en-GB" b="0" i="0" dirty="0">
                <a:effectLst/>
                <a:latin typeface="roboto flex"/>
              </a:rPr>
            </a:br>
            <a:r>
              <a:rPr lang="en-GB" b="0" i="0" dirty="0">
                <a:effectLst/>
                <a:latin typeface="roboto flex"/>
              </a:rPr>
              <a:t> Once a layer changes, then all downstream layers need to be rebuilt as well”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9111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BCB91-FEFA-D4E4-A9A0-6E73100FA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Layers are cached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99BEC-968E-18DF-FED0-FD8DF3823E7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Build context/input changes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layer cache is invalidated!</a:t>
            </a:r>
          </a:p>
          <a:p>
            <a:pPr lvl="1"/>
            <a:r>
              <a:rPr lang="en-DK" dirty="0"/>
              <a:t>Dockerfile instruction order matters!</a:t>
            </a:r>
            <a:endParaRPr lang="en-GB" dirty="0"/>
          </a:p>
          <a:p>
            <a:pPr lvl="1"/>
            <a:r>
              <a:rPr lang="en-DK" dirty="0"/>
              <a:t>This is where we can optimize image size and build-times.</a:t>
            </a:r>
          </a:p>
          <a:p>
            <a:pPr lvl="1"/>
            <a:r>
              <a:rPr lang="en-GB" dirty="0"/>
              <a:t>Se </a:t>
            </a:r>
            <a:r>
              <a:rPr lang="en-GB" dirty="0">
                <a:hlinkClick r:id="rId2"/>
              </a:rPr>
              <a:t>https://docs.docker.com/build/cache/</a:t>
            </a:r>
            <a:br>
              <a:rPr lang="en-DK" dirty="0"/>
            </a:br>
            <a:endParaRPr lang="en-DK" dirty="0"/>
          </a:p>
          <a:p>
            <a:r>
              <a:rPr lang="en-DK" dirty="0"/>
              <a:t>What happens here when you change your Java src and rebuild?</a:t>
            </a:r>
          </a:p>
          <a:p>
            <a:pPr marL="0" indent="0">
              <a:buNone/>
            </a:pP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F77A7F-900A-3865-D1A3-838A6C1A8202}"/>
              </a:ext>
            </a:extLst>
          </p:cNvPr>
          <p:cNvSpPr txBox="1"/>
          <p:nvPr/>
        </p:nvSpPr>
        <p:spPr>
          <a:xfrm>
            <a:off x="838064" y="4010800"/>
            <a:ext cx="707026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4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fat-JDK-image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./java-project /src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 ./large-ext-deps /src/deps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apt upgrade &amp;&amp; apt install curl jq</a:t>
            </a:r>
          </a:p>
        </p:txBody>
      </p:sp>
    </p:spTree>
    <p:extLst>
      <p:ext uri="{BB962C8B-B14F-4D97-AF65-F5344CB8AC3E}">
        <p14:creationId xmlns:p14="http://schemas.microsoft.com/office/powerpoint/2010/main" val="372838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525A-CADB-75D7-C860-5D878F54F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Multi-stage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552B0-F90F-4AD8-5149-B8210F2ED0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Ved at dele en Dockerfile op i flere stages, opnår vi:</a:t>
            </a:r>
          </a:p>
          <a:p>
            <a:pPr lvl="1"/>
            <a:r>
              <a:rPr lang="en-DK" dirty="0"/>
              <a:t>Langt mindre runtime images – Ikke behov for SDK tools og store distros for at køre app’en.</a:t>
            </a:r>
          </a:p>
          <a:p>
            <a:pPr lvl="1"/>
            <a:r>
              <a:rPr lang="en-DK" dirty="0"/>
              <a:t>Mindre angrebsflade   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Forbedret sikkerhed.</a:t>
            </a:r>
          </a:p>
          <a:p>
            <a:pPr lvl="1"/>
            <a:r>
              <a:rPr lang="en-DK" dirty="0"/>
              <a:t>Færre bevægelige dele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Nemmere maintenance.</a:t>
            </a:r>
          </a:p>
          <a:p>
            <a:pPr lvl="1"/>
            <a:r>
              <a:rPr lang="en-DK" dirty="0"/>
              <a:t>Bedre build caching      </a:t>
            </a:r>
            <a:r>
              <a:rPr lang="en-DK" dirty="0">
                <a:sym typeface="Wingdings" pitchFamily="2" charset="2"/>
              </a:rPr>
              <a:t> Hurtigere CI pipelines.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0ABA6B-223D-9531-6FDA-C44DB6268E80}"/>
              </a:ext>
            </a:extLst>
          </p:cNvPr>
          <p:cNvSpPr txBox="1"/>
          <p:nvPr/>
        </p:nvSpPr>
        <p:spPr>
          <a:xfrm>
            <a:off x="1183572" y="3668072"/>
            <a:ext cx="7919585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alpine/java:21-jdk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build-stage</a:t>
            </a: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/out</a:t>
            </a:r>
          </a:p>
          <a:p>
            <a:endParaRPr lang="en-DK" sz="20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 [Build the app artifact]</a:t>
            </a:r>
            <a:b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0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alpine/java:21-jre </a:t>
            </a:r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runtime-stage</a:t>
            </a: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--from=build-stage /out /app</a:t>
            </a:r>
          </a:p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 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/app/my-app.jar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B9F2774-8A25-CE97-3CC0-46E688569559}"/>
              </a:ext>
            </a:extLst>
          </p:cNvPr>
          <p:cNvCxnSpPr>
            <a:cxnSpLocks/>
          </p:cNvCxnSpPr>
          <p:nvPr/>
        </p:nvCxnSpPr>
        <p:spPr>
          <a:xfrm flipH="1">
            <a:off x="7020560" y="3893273"/>
            <a:ext cx="280822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AE0FBB-FA9E-78E5-E79E-1B9C254D83DD}"/>
              </a:ext>
            </a:extLst>
          </p:cNvPr>
          <p:cNvSpPr txBox="1"/>
          <p:nvPr/>
        </p:nvSpPr>
        <p:spPr>
          <a:xfrm>
            <a:off x="9849102" y="3708607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Stage 1</a:t>
            </a:r>
            <a:endParaRPr lang="en-DK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F9537-E798-DD82-5641-6787A77F7BDD}"/>
              </a:ext>
            </a:extLst>
          </p:cNvPr>
          <p:cNvCxnSpPr>
            <a:cxnSpLocks/>
          </p:cNvCxnSpPr>
          <p:nvPr/>
        </p:nvCxnSpPr>
        <p:spPr>
          <a:xfrm flipH="1">
            <a:off x="7020560" y="5393974"/>
            <a:ext cx="280822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1E6DD6-70BF-98C7-CA05-43E962052E36}"/>
              </a:ext>
            </a:extLst>
          </p:cNvPr>
          <p:cNvSpPr txBox="1"/>
          <p:nvPr/>
        </p:nvSpPr>
        <p:spPr>
          <a:xfrm>
            <a:off x="9817100" y="5209308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Stage 2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6329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allAtOnce" animBg="1"/>
      <p:bldP spid="6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B613-E6CE-18B7-A9A1-C53057138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Base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400CE-BBFB-EDBD-244A-2F0C4A44C4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Size matters! 😳</a:t>
            </a:r>
            <a:br>
              <a:rPr lang="en-DK" dirty="0"/>
            </a:br>
            <a:endParaRPr lang="en-DK" dirty="0"/>
          </a:p>
          <a:p>
            <a:r>
              <a:rPr lang="en-DK" dirty="0"/>
              <a:t>Base-image types:</a:t>
            </a:r>
          </a:p>
          <a:p>
            <a:pPr lvl="1"/>
            <a:r>
              <a:rPr lang="en-DK" dirty="0"/>
              <a:t>Scratch 	</a:t>
            </a:r>
            <a:r>
              <a:rPr lang="en-DK" dirty="0">
                <a:sym typeface="Wingdings" pitchFamily="2" charset="2"/>
              </a:rPr>
              <a:t> Literally nothing</a:t>
            </a:r>
            <a:endParaRPr lang="en-DK" dirty="0"/>
          </a:p>
          <a:p>
            <a:pPr lvl="1"/>
            <a:r>
              <a:rPr lang="en-DK" dirty="0"/>
              <a:t>Distro 	</a:t>
            </a:r>
            <a:r>
              <a:rPr lang="en-DK" dirty="0">
                <a:sym typeface="Wingdings" pitchFamily="2" charset="2"/>
              </a:rPr>
              <a:t> Full filesystem of a Linux distro </a:t>
            </a:r>
            <a:r>
              <a:rPr lang="en-DK" dirty="0"/>
              <a:t>( Ubuntu / RHEL / Alpine )</a:t>
            </a:r>
          </a:p>
          <a:p>
            <a:pPr lvl="1"/>
            <a:r>
              <a:rPr lang="en-DK" dirty="0"/>
              <a:t>Distro-less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Runtime of a Linux distro, but no package manager, shell, etc.</a:t>
            </a:r>
          </a:p>
          <a:p>
            <a:pPr lvl="1"/>
            <a:endParaRPr lang="en-DK" dirty="0"/>
          </a:p>
          <a:p>
            <a:r>
              <a:rPr lang="en-DK" dirty="0"/>
              <a:t>Smaller base-image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✔ Faster image pull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✔ Smaller attack surface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🐞 </a:t>
            </a:r>
            <a:r>
              <a:rPr lang="en-DK" dirty="0"/>
              <a:t>Slightly more difficult to debug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4226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9485D-7C90-E3CF-C8E0-1DC404A5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13E339F-4CBB-45E3-FAB7-3D4249BDDC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3F32866-06ED-5F01-9416-4122DB5FBA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Container </a:t>
            </a:r>
            <a:r>
              <a:rPr lang="da-DK" dirty="0" err="1"/>
              <a:t>runtime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524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3D304-795F-03F6-D247-8187561E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507AA-3BB3-0C14-2F46-2585800955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b="1" dirty="0"/>
              <a:t>Single node (Udvikler):</a:t>
            </a:r>
          </a:p>
          <a:p>
            <a:r>
              <a:rPr lang="en-DK" dirty="0"/>
              <a:t>Docker</a:t>
            </a:r>
          </a:p>
          <a:p>
            <a:r>
              <a:rPr lang="en-DK" dirty="0"/>
              <a:t>Podman</a:t>
            </a:r>
          </a:p>
          <a:p>
            <a:r>
              <a:rPr lang="en-DK" dirty="0"/>
              <a:t>Rancher Desktop</a:t>
            </a:r>
          </a:p>
          <a:p>
            <a:endParaRPr lang="en-DK" dirty="0"/>
          </a:p>
          <a:p>
            <a:pPr marL="0" indent="0">
              <a:buNone/>
            </a:pPr>
            <a:r>
              <a:rPr lang="en-DK" b="1" dirty="0"/>
              <a:t>Multi node (Serverdrift):</a:t>
            </a:r>
          </a:p>
          <a:p>
            <a:r>
              <a:rPr lang="en-DK" dirty="0"/>
              <a:t>Kubernetes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B109E-B4E3-AA81-0C66-343E420A8952}"/>
              </a:ext>
            </a:extLst>
          </p:cNvPr>
          <p:cNvSpPr txBox="1"/>
          <p:nvPr/>
        </p:nvSpPr>
        <p:spPr>
          <a:xfrm>
            <a:off x="4621696" y="2646919"/>
            <a:ext cx="463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Implements the Docker CLI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2F8AC0E-50C3-B1DB-A894-83FE84516070}"/>
              </a:ext>
            </a:extLst>
          </p:cNvPr>
          <p:cNvSpPr/>
          <p:nvPr/>
        </p:nvSpPr>
        <p:spPr>
          <a:xfrm>
            <a:off x="4184306" y="2315817"/>
            <a:ext cx="437322" cy="1023730"/>
          </a:xfrm>
          <a:prstGeom prst="righ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9379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086F-E8CC-5E6A-61C0-EF0DA428B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Runtime – Execution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6744F-2F08-66E0-42B8-FE9AF8260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Run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 (new container)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--detach &lt;image:tag&gt; cmd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--rm --entrypoint /bin/do-stuff &lt;image:tag&gt;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run --publish 8080:80 nginx:latest</a:t>
            </a:r>
          </a:p>
          <a:p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Execute</a:t>
            </a: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a-DK" dirty="0" err="1">
                <a:latin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 container)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--interactive --tty &lt;container-name&gt; /bin/bash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--user root &lt;container-name&gt; whoami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--detach &lt;container-name&gt; /app/cleanup.sh</a:t>
            </a:r>
          </a:p>
          <a:p>
            <a:r>
              <a:rPr lang="en-GB" b="1" dirty="0">
                <a:latin typeface="Calibri" panose="020F0502020204030204" pitchFamily="34" charset="0"/>
                <a:cs typeface="Calibri" panose="020F0502020204030204" pitchFamily="34" charset="0"/>
              </a:rPr>
              <a:t>Logs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--follow &lt;container-name&gt;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--tail 200 &lt;container-name&gt;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--since=2026-01-01 --until=1h &lt;container-name&gt;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22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7560-58CC-5FCA-55FE-0C41FB359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Runtime – Volume mapping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FF671-DE95-BB05-8C3D-10BF17652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Map host folders into a running container</a:t>
            </a:r>
          </a:p>
          <a:p>
            <a:endParaRPr lang="en-DK" dirty="0"/>
          </a:p>
          <a:p>
            <a:r>
              <a:rPr lang="en-DK" dirty="0"/>
              <a:t>Example: Let’s mount a local folder into an nginx container</a:t>
            </a:r>
            <a:br>
              <a:rPr lang="en-DK" dirty="0"/>
            </a:br>
            <a:br>
              <a:rPr lang="en-DK" dirty="0"/>
            </a:b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run --volume ./web:</a:t>
            </a: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8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usr</a:t>
            </a: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/share/nginx/html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  <a:b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--publish 8080:80 \</a:t>
            </a:r>
            <a:b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nginx:latest</a:t>
            </a: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>
                <a:cs typeface="Consolas" panose="020B0609020204030204" pitchFamily="49" charset="0"/>
              </a:rPr>
              <a:t>Useful for: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Overriding config files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Injecting secrets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Persist changes!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19038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766C8-7B13-6C88-CE8E-3964D065B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2251C6-C6EE-95AA-0FB6-B4F0C28B2E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657BE-4751-DA46-9EC7-F5F9864456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312995" cy="2884543"/>
          </a:xfrm>
        </p:spPr>
        <p:txBody>
          <a:bodyPr/>
          <a:lstStyle/>
          <a:p>
            <a:r>
              <a:rPr lang="en-DK" dirty="0"/>
              <a:t>Exercise: Advanced</a:t>
            </a:r>
            <a:br>
              <a:rPr lang="en-DK" dirty="0"/>
            </a:br>
            <a:r>
              <a:rPr lang="en-DK" sz="2400" dirty="0"/>
              <a:t>Let’s build more optimized container images &amp; see how they work in practice!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9269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2AB6-9884-FDF4-F220-E725271E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3CFE-43FD-3146-7E14-353FFCA4D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Exercise: Advanced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490F1-2D8F-8682-5711-E5202FAE59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98506"/>
            <a:ext cx="10515600" cy="444251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Continue from where you left off in</a:t>
            </a:r>
            <a:br>
              <a:rPr lang="en-DK" dirty="0"/>
            </a:br>
            <a:r>
              <a:rPr lang="en-GB" dirty="0">
                <a:hlinkClick r:id="rId3"/>
              </a:rPr>
              <a:t>https://github.com/Notalib/workshop-containerisation</a:t>
            </a:r>
            <a:r>
              <a:rPr lang="en-GB" dirty="0"/>
              <a:t> 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Finish containerising the applications.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Optimize Dockerfiles for faster (re-)build and slimmer images.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See </a:t>
            </a:r>
            <a:r>
              <a:rPr lang="en-DK" dirty="0">
                <a:solidFill>
                  <a:srgbClr val="005DE0"/>
                </a:solidFill>
              </a:rPr>
              <a:t>README.md </a:t>
            </a:r>
            <a:r>
              <a:rPr lang="en-DK" dirty="0"/>
              <a:t>in each app folder for more instructions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See root </a:t>
            </a:r>
            <a:r>
              <a:rPr lang="en-DK" dirty="0">
                <a:solidFill>
                  <a:srgbClr val="005DE0"/>
                </a:solidFill>
              </a:rPr>
              <a:t>README.md</a:t>
            </a:r>
            <a:r>
              <a:rPr lang="en-DK" dirty="0"/>
              <a:t> for bonus tasks &amp; best-practices.</a:t>
            </a:r>
            <a:br>
              <a:rPr lang="en-DK" dirty="0"/>
            </a:br>
            <a:br>
              <a:rPr lang="en-DK" dirty="0"/>
            </a:br>
            <a:br>
              <a:rPr lang="en-DK" dirty="0"/>
            </a:br>
            <a:r>
              <a:rPr lang="en-DK" dirty="0"/>
              <a:t>Recap kl. 13:00</a:t>
            </a:r>
          </a:p>
        </p:txBody>
      </p:sp>
    </p:spTree>
    <p:extLst>
      <p:ext uri="{BB962C8B-B14F-4D97-AF65-F5344CB8AC3E}">
        <p14:creationId xmlns:p14="http://schemas.microsoft.com/office/powerpoint/2010/main" val="2276001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31919-6827-3C74-9745-57759CE8D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9626E-6633-EB6A-A5BC-58B0A8F1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Advanced - Retrospective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245108-1D58-0928-261D-E4E2D421D0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Learnings &amp;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Look at solutions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Best practices?</a:t>
            </a:r>
          </a:p>
        </p:txBody>
      </p:sp>
    </p:spTree>
    <p:extLst>
      <p:ext uri="{BB962C8B-B14F-4D97-AF65-F5344CB8AC3E}">
        <p14:creationId xmlns:p14="http://schemas.microsoft.com/office/powerpoint/2010/main" val="29832181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9E7CD-217C-82D3-17E2-EC6D63906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D833DE-9D46-8BDC-8183-2548635017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F6378E4-B93A-2F5E-209A-670CF1FF96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Docker Compose</a:t>
            </a:r>
            <a:br>
              <a:rPr lang="da-DK" dirty="0"/>
            </a:br>
            <a:r>
              <a:rPr lang="da-DK" sz="2800" dirty="0" err="1">
                <a:solidFill>
                  <a:schemeClr val="accent1"/>
                </a:solidFill>
              </a:rPr>
              <a:t>Multi</a:t>
            </a:r>
            <a:r>
              <a:rPr lang="da-DK" sz="2800" dirty="0">
                <a:solidFill>
                  <a:schemeClr val="accent1"/>
                </a:solidFill>
              </a:rPr>
              <a:t>-component systems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363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5E61-D91B-BB29-6203-3CC6A5F88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B152C-9097-A430-4A3B-1848C33C3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44ABB-3F98-068E-22B0-240EF24CC8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Tool for defining a multi-container application, where we </a:t>
            </a:r>
            <a:r>
              <a:rPr lang="en-DK" b="1" dirty="0"/>
              <a:t>compose</a:t>
            </a:r>
            <a:r>
              <a:rPr lang="en-DK" dirty="0"/>
              <a:t> </a:t>
            </a:r>
            <a:r>
              <a:rPr lang="en-DK" b="1" dirty="0"/>
              <a:t>several containers to work together</a:t>
            </a:r>
            <a:r>
              <a:rPr lang="en-DK" dirty="0"/>
              <a:t> as a single multi-container system.</a:t>
            </a:r>
          </a:p>
          <a:p>
            <a:pPr lvl="1"/>
            <a:r>
              <a:rPr lang="en-GB" dirty="0"/>
              <a:t>Manage services, networks, and volumes in a </a:t>
            </a:r>
            <a:r>
              <a:rPr lang="en-GB" b="1" dirty="0"/>
              <a:t>single YAML configuration file</a:t>
            </a:r>
          </a:p>
          <a:p>
            <a:pPr lvl="1"/>
            <a:r>
              <a:rPr lang="en-GB" b="1" dirty="0"/>
              <a:t>Declarative infrastructure </a:t>
            </a:r>
            <a:r>
              <a:rPr lang="en-GB" dirty="0"/>
              <a:t>(document) instead of imperative (commands)</a:t>
            </a:r>
            <a:br>
              <a:rPr lang="en-GB" b="1" dirty="0"/>
            </a:br>
            <a:endParaRPr lang="en-GB" b="1" dirty="0"/>
          </a:p>
          <a:p>
            <a:r>
              <a:rPr lang="en-GB" dirty="0"/>
              <a:t>Includes commands for managing the whole lifecycle of your application:</a:t>
            </a:r>
          </a:p>
          <a:p>
            <a:pPr lvl="1"/>
            <a:r>
              <a:rPr lang="en-GB" b="1" dirty="0"/>
              <a:t>Start</a:t>
            </a:r>
            <a:r>
              <a:rPr lang="en-GB" dirty="0"/>
              <a:t>, </a:t>
            </a:r>
            <a:r>
              <a:rPr lang="en-GB" b="1" dirty="0"/>
              <a:t>stop</a:t>
            </a:r>
            <a:r>
              <a:rPr lang="en-GB" dirty="0"/>
              <a:t>, and </a:t>
            </a:r>
            <a:r>
              <a:rPr lang="en-GB" b="1" dirty="0"/>
              <a:t>build</a:t>
            </a:r>
            <a:r>
              <a:rPr lang="en-GB" dirty="0"/>
              <a:t> services (container images)</a:t>
            </a:r>
          </a:p>
          <a:p>
            <a:pPr lvl="1"/>
            <a:r>
              <a:rPr lang="en-GB" dirty="0"/>
              <a:t>View the </a:t>
            </a:r>
            <a:r>
              <a:rPr lang="en-GB" b="1" dirty="0"/>
              <a:t>status</a:t>
            </a:r>
            <a:r>
              <a:rPr lang="en-GB" dirty="0"/>
              <a:t> of running services</a:t>
            </a:r>
          </a:p>
          <a:p>
            <a:pPr lvl="1"/>
            <a:r>
              <a:rPr lang="en-GB" dirty="0"/>
              <a:t>Stream the </a:t>
            </a:r>
            <a:r>
              <a:rPr lang="en-GB" b="1" dirty="0"/>
              <a:t>logs</a:t>
            </a:r>
            <a:r>
              <a:rPr lang="en-GB" dirty="0"/>
              <a:t> of running services</a:t>
            </a:r>
          </a:p>
          <a:p>
            <a:pPr lvl="1"/>
            <a:r>
              <a:rPr lang="en-GB" dirty="0"/>
              <a:t>Run one-off commands on a service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148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483113" y="362731"/>
            <a:ext cx="9989014" cy="59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A2D2E-6218-4C69-0C35-E39C039B8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615A8-8F2F-449A-0242-121D891D2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Monorepo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CAEE14-6E51-E880-FC3C-2E8BF33C28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167312"/>
          </a:xfrm>
        </p:spPr>
        <p:txBody>
          <a:bodyPr>
            <a:normAutofit/>
          </a:bodyPr>
          <a:lstStyle/>
          <a:p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Each component is a </a:t>
            </a:r>
            <a:r>
              <a:rPr lang="en-DK" b="1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File: </a:t>
            </a:r>
            <a:r>
              <a:rPr lang="en-DK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docker-compose.yml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000" dirty="0">
                <a:cs typeface="Consolas" panose="020B0609020204030204" pitchFamily="49" charset="0"/>
              </a:rPr>
              <a:t>or just </a:t>
            </a:r>
            <a:r>
              <a:rPr lang="en-DK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compose.yml</a:t>
            </a: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sz="1050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9BA97-099E-A2FC-04EE-41CB856C0B0E}"/>
              </a:ext>
            </a:extLst>
          </p:cNvPr>
          <p:cNvSpPr txBox="1"/>
          <p:nvPr/>
        </p:nvSpPr>
        <p:spPr>
          <a:xfrm>
            <a:off x="838064" y="2554425"/>
            <a:ext cx="7070260" cy="286232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database: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image: </a:t>
            </a:r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postgres:17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AA5EF7-31A3-131D-4E5C-814D7A212841}"/>
              </a:ext>
            </a:extLst>
          </p:cNvPr>
          <p:cNvSpPr txBox="1"/>
          <p:nvPr/>
        </p:nvSpPr>
        <p:spPr>
          <a:xfrm>
            <a:off x="8239760" y="2505670"/>
            <a:ext cx="3667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>
                <a:cs typeface="Consolas" panose="020B0609020204030204" pitchFamily="49" charset="0"/>
              </a:rPr>
              <a:t>Pull, build &amp; bring up all services with a single command: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compose up –-detach</a:t>
            </a:r>
          </a:p>
        </p:txBody>
      </p:sp>
    </p:spTree>
    <p:extLst>
      <p:ext uri="{BB962C8B-B14F-4D97-AF65-F5344CB8AC3E}">
        <p14:creationId xmlns:p14="http://schemas.microsoft.com/office/powerpoint/2010/main" val="4205151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C212F-8613-7EC2-F4AE-123473FFD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Basic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8C4C3-44BF-8E08-BBD0-9C0F87AC69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up</a:t>
            </a:r>
          </a:p>
          <a:p>
            <a:pPr lvl="1"/>
            <a:r>
              <a:rPr lang="en-GB" dirty="0"/>
              <a:t>Start all services (builds if needed)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--detach </a:t>
            </a:r>
            <a:r>
              <a:rPr lang="en-GB" dirty="0"/>
              <a:t>= Start in background (detached)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down</a:t>
            </a:r>
          </a:p>
          <a:p>
            <a:pPr lvl="1"/>
            <a:r>
              <a:rPr lang="en-GB" dirty="0"/>
              <a:t>Stop and remove containers + network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List running services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logs &lt;service-name&gt; -f</a:t>
            </a:r>
          </a:p>
          <a:p>
            <a:pPr lvl="1"/>
            <a:r>
              <a:rPr lang="en-GB" dirty="0"/>
              <a:t>Follow logs from all services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--tail n</a:t>
            </a:r>
            <a:r>
              <a:rPr lang="en-GB" dirty="0"/>
              <a:t> 	= Give me n latest lines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--since “1h”</a:t>
            </a:r>
            <a:r>
              <a:rPr lang="en-GB" dirty="0"/>
              <a:t> 	= Give me logs from past hour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25706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ED125-F12F-0D50-1BC4-2E684DDFF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</a:t>
            </a:r>
            <a:r>
              <a:rPr lang="en-GB" dirty="0"/>
              <a:t>o</a:t>
            </a:r>
            <a:r>
              <a:rPr lang="en-DK" dirty="0"/>
              <a:t>mpose – Useful daily cmds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E421C-0159-4093-E561-B36F9325B1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build</a:t>
            </a:r>
          </a:p>
          <a:p>
            <a:pPr lvl="1"/>
            <a:r>
              <a:rPr lang="en-GB" dirty="0"/>
              <a:t>Build/rebuild images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restart</a:t>
            </a:r>
          </a:p>
          <a:p>
            <a:pPr lvl="1"/>
            <a:r>
              <a:rPr lang="en-GB" dirty="0"/>
              <a:t>Restart all services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exec &lt;service&gt;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Open shell inside a container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run &lt;service&gt; &lt;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1"/>
            <a:r>
              <a:rPr lang="en-GB" dirty="0"/>
              <a:t>Run one-off command (</a:t>
            </a:r>
            <a:r>
              <a:rPr lang="en-GB" dirty="0" err="1"/>
              <a:t>fx</a:t>
            </a:r>
            <a:r>
              <a:rPr lang="en-GB" dirty="0"/>
              <a:t>. migrations or jobs)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pull</a:t>
            </a:r>
          </a:p>
          <a:p>
            <a:pPr lvl="1"/>
            <a:r>
              <a:rPr lang="en-GB" dirty="0"/>
              <a:t>Fetch latest images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013670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51126-9A17-7D42-2430-1A1105991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Ports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C7154-B85E-5354-B8D1-647B45FDFC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Internal networking</a:t>
            </a:r>
          </a:p>
          <a:p>
            <a:pPr lvl="1"/>
            <a:r>
              <a:rPr lang="en-GB" dirty="0"/>
              <a:t>Docker Compose creates a default network for every compose file.</a:t>
            </a:r>
          </a:p>
          <a:p>
            <a:pPr lvl="2"/>
            <a:r>
              <a:rPr lang="en-GB" dirty="0"/>
              <a:t>Every service from the same compose file joins it automatically.</a:t>
            </a:r>
          </a:p>
          <a:p>
            <a:pPr lvl="2"/>
            <a:r>
              <a:rPr lang="en-GB" dirty="0"/>
              <a:t>All services can reach each other via:</a:t>
            </a:r>
            <a:br>
              <a:rPr lang="en-GB" dirty="0"/>
            </a:b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&lt;service-name&gt;:&lt;container-port&gt;</a:t>
            </a:r>
            <a:b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/>
          </a:p>
          <a:p>
            <a:r>
              <a:rPr lang="en-GB" b="1" dirty="0"/>
              <a:t>Host networking</a:t>
            </a:r>
            <a:endParaRPr lang="en-DK" b="1" dirty="0"/>
          </a:p>
          <a:p>
            <a:pPr marL="457200" lvl="1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ports: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"HOST_PORT:CONTAINER_PORT”</a:t>
            </a: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>
                <a:solidFill>
                  <a:schemeClr val="tx1"/>
                </a:solidFill>
              </a:rPr>
              <a:t>Example: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”8080:80” </a:t>
            </a:r>
            <a:r>
              <a:rPr lang="en-GB" dirty="0">
                <a:solidFill>
                  <a:schemeClr val="tx1"/>
                </a:solidFill>
              </a:rPr>
              <a:t>would expose host port </a:t>
            </a:r>
            <a:r>
              <a:rPr lang="en-GB" b="1" dirty="0">
                <a:solidFill>
                  <a:schemeClr val="tx1"/>
                </a:solidFill>
              </a:rPr>
              <a:t>8080 </a:t>
            </a:r>
            <a:r>
              <a:rPr lang="en-GB" dirty="0">
                <a:solidFill>
                  <a:schemeClr val="tx1"/>
                </a:solidFill>
              </a:rPr>
              <a:t>to </a:t>
            </a:r>
            <a:r>
              <a:rPr lang="en-GB" dirty="0"/>
              <a:t>container port </a:t>
            </a:r>
            <a:r>
              <a:rPr lang="en-GB" b="1" dirty="0"/>
              <a:t>80</a:t>
            </a:r>
            <a:br>
              <a:rPr lang="en-GB" b="1" dirty="0"/>
            </a:br>
            <a:endParaRPr lang="en-GB" b="1" dirty="0"/>
          </a:p>
          <a:p>
            <a:pPr lvl="1"/>
            <a:r>
              <a:rPr lang="en-GB" dirty="0"/>
              <a:t>⚠️  By default, services are exposed on ALL network interfaces ⚠️</a:t>
            </a:r>
          </a:p>
          <a:p>
            <a:pPr lvl="2"/>
            <a:r>
              <a:rPr lang="en-GB" dirty="0">
                <a:solidFill>
                  <a:schemeClr val="tx1"/>
                </a:solidFill>
              </a:rPr>
              <a:t>Limit to loopback-only with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”127.0.0.1:8080:80”</a:t>
            </a:r>
            <a:endParaRPr lang="en-GB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0395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766FC-2E6D-45F8-1364-9F0D93C7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Compose example /w ports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DA088-F47A-3156-B41B-3CD821CF36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Compose example with ports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CD912E-487A-28DF-3740-FED4390D4545}"/>
              </a:ext>
            </a:extLst>
          </p:cNvPr>
          <p:cNvSpPr txBox="1"/>
          <p:nvPr/>
        </p:nvSpPr>
        <p:spPr>
          <a:xfrm>
            <a:off x="838064" y="2191728"/>
            <a:ext cx="7070260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ports:</a:t>
            </a: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“8080:80”</a:t>
            </a:r>
          </a:p>
          <a:p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dirty="0" err="1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redis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dirty="0" err="1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redis:alpine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41732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AEEBE-07FA-D960-29BC-B9B1ADD9C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Environment Vars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F47963-FCB5-C0B6-67E7-39AD6737DD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We can modify environment variables inside the containers</a:t>
            </a:r>
          </a:p>
          <a:p>
            <a:r>
              <a:rPr lang="en-DK" dirty="0"/>
              <a:t>Most common way to re-configure apps across environments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48FEF-0D3D-88A5-CD81-6533BE72CC73}"/>
              </a:ext>
            </a:extLst>
          </p:cNvPr>
          <p:cNvSpPr txBox="1"/>
          <p:nvPr/>
        </p:nvSpPr>
        <p:spPr>
          <a:xfrm>
            <a:off x="838064" y="2695101"/>
            <a:ext cx="7070260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da-DK" dirty="0" err="1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BACKEND_URL: ”backend:5000”</a:t>
            </a:r>
          </a:p>
          <a:p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FOO: bar</a:t>
            </a:r>
          </a:p>
          <a:p>
            <a:endParaRPr lang="da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0238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D46-8BAC-F485-7F23-C82961DE2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Practical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BF9F7-AA42-C40E-BE0D-7EE4CB422A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Example: </a:t>
            </a:r>
            <a:r>
              <a:rPr lang="en-DK" dirty="0">
                <a:solidFill>
                  <a:srgbClr val="005DE0"/>
                </a:solidFill>
              </a:rPr>
              <a:t>edu-spring-postgres/compose.yml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Follow the steps in README.md</a:t>
            </a:r>
          </a:p>
          <a:p>
            <a:endParaRPr lang="en-DK" dirty="0">
              <a:solidFill>
                <a:srgbClr val="005DE0"/>
              </a:solidFill>
            </a:endParaRPr>
          </a:p>
          <a:p>
            <a:r>
              <a:rPr lang="en-DK" dirty="0"/>
              <a:t>Example: DIT ExamSystem</a:t>
            </a:r>
          </a:p>
          <a:p>
            <a:pPr lvl="1"/>
            <a:r>
              <a:rPr lang="en-DK" dirty="0"/>
              <a:t>Using compose for development &amp; CI/CD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27305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7591-8C3D-B81E-973A-668242A92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Volumes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ECDB4-5520-7FD3-0D3C-4D75073E63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b="1" dirty="0"/>
              <a:t>Host files and folders</a:t>
            </a:r>
            <a:r>
              <a:rPr lang="en-DK" dirty="0"/>
              <a:t> can be mounted into services.</a:t>
            </a:r>
            <a:br>
              <a:rPr lang="en-DK" dirty="0"/>
            </a:br>
            <a:br>
              <a:rPr lang="en-DK" dirty="0"/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"HOST_PATH:CONTAINER_PATH"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cs typeface="Consolas" panose="020B0609020204030204" pitchFamily="49" charset="0"/>
              </a:rPr>
              <a:t>Named volumes </a:t>
            </a:r>
            <a:r>
              <a:rPr lang="en-GB" dirty="0">
                <a:solidFill>
                  <a:schemeClr val="tx1"/>
                </a:solidFill>
                <a:cs typeface="Consolas" panose="020B0609020204030204" pitchFamily="49" charset="0"/>
              </a:rPr>
              <a:t>can persist data from services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database: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-data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:/var/lib/data"</a:t>
            </a: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-data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5445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D3225-2700-A5BC-7C68-A4ABC2F7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Docker Compose – Exercises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113B6-55E8-3DAA-1946-BB769FD89A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docker compose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/>
              <a:t>folder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Try some </a:t>
            </a:r>
            <a:r>
              <a:rPr lang="en-GB" dirty="0">
                <a:solidFill>
                  <a:srgbClr val="005DE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awesome-compose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examples</a:t>
            </a:r>
          </a:p>
          <a:p>
            <a:pPr lvl="1"/>
            <a:r>
              <a:rPr lang="en-GB" dirty="0">
                <a:hlinkClick r:id="rId2"/>
              </a:rPr>
              <a:t>https://github.com/docker/awesome-compose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Run the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./cli-demo/get-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awesome.sh</a:t>
            </a:r>
            <a:r>
              <a:rPr lang="en-GB" dirty="0"/>
              <a:t> script</a:t>
            </a:r>
          </a:p>
          <a:p>
            <a:pPr lvl="1"/>
            <a:r>
              <a:rPr lang="en-DK" dirty="0"/>
              <a:t>Inspect the demos 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 awesome-compose &amp;&amp; ls –al</a:t>
            </a:r>
          </a:p>
          <a:p>
            <a:pPr lvl="1"/>
            <a:r>
              <a:rPr lang="en-DK" dirty="0"/>
              <a:t>Pick one and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up -d</a:t>
            </a:r>
            <a:r>
              <a:rPr lang="en-DK" dirty="0"/>
              <a:t> inside its folder</a:t>
            </a:r>
          </a:p>
        </p:txBody>
      </p:sp>
    </p:spTree>
    <p:extLst>
      <p:ext uri="{BB962C8B-B14F-4D97-AF65-F5344CB8AC3E}">
        <p14:creationId xmlns:p14="http://schemas.microsoft.com/office/powerpoint/2010/main" val="21200180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C059EF-3639-47A5-C843-99926F39D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40180" y="2703050"/>
            <a:ext cx="2147570" cy="946150"/>
          </a:xfrm>
        </p:spPr>
        <p:txBody>
          <a:bodyPr>
            <a:normAutofit/>
          </a:bodyPr>
          <a:lstStyle/>
          <a:p>
            <a:r>
              <a:rPr lang="en-DK" dirty="0"/>
              <a:t>Opt.</a:t>
            </a:r>
          </a:p>
          <a:p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FACD-F3CF-6872-A8F6-4E5E74DCBA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Container Technicals</a:t>
            </a:r>
          </a:p>
        </p:txBody>
      </p:sp>
    </p:spTree>
    <p:extLst>
      <p:ext uri="{BB962C8B-B14F-4D97-AF65-F5344CB8AC3E}">
        <p14:creationId xmlns:p14="http://schemas.microsoft.com/office/powerpoint/2010/main" val="24822920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Aka. ”Cloud-native apps”</a:t>
            </a:r>
          </a:p>
          <a:p>
            <a:pPr lvl="1"/>
            <a:r>
              <a:rPr lang="en-GB" dirty="0"/>
              <a:t>Goal: Be portable and scalable!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applikationer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Baked-in dependencies</a:t>
            </a:r>
          </a:p>
          <a:p>
            <a:pPr lvl="2"/>
            <a:r>
              <a:rPr lang="en-GB" dirty="0"/>
              <a:t>Explicitly declared and baked into image.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etc…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151" y="2844684"/>
            <a:ext cx="2233867" cy="223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9324151" y="5167312"/>
            <a:ext cx="2712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Required reading:</a:t>
            </a:r>
            <a:br>
              <a:rPr lang="en-GB" dirty="0"/>
            </a:br>
            <a:r>
              <a:rPr lang="en-GB" dirty="0">
                <a:hlinkClick r:id="rId3"/>
              </a:rPr>
              <a:t>https://12factor.net/</a:t>
            </a:r>
            <a:r>
              <a:rPr lang="en-GB" dirty="0"/>
              <a:t> or </a:t>
            </a:r>
            <a:r>
              <a:rPr lang="en-GB" dirty="0">
                <a:hlinkClick r:id="rId4"/>
              </a:rPr>
              <a:t>https://w.wiki/MHUu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07BA2-ECA3-C5E0-2092-5FBF8587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Debug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9B07D-D65D-AFB8-1ED7-AC9FE550A6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dirty="0"/>
              <a:t>How to get a shell in a scratch or distro-less container?</a:t>
            </a:r>
          </a:p>
          <a:p>
            <a:endParaRPr lang="en-DK" dirty="0"/>
          </a:p>
          <a:p>
            <a:r>
              <a:rPr lang="en-DK" dirty="0"/>
              <a:t>You debug the container!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debug &lt;container-name&gt;</a:t>
            </a:r>
          </a:p>
          <a:p>
            <a:pPr lvl="1"/>
            <a:r>
              <a:rPr lang="en-DK" dirty="0"/>
              <a:t>D</a:t>
            </a:r>
            <a:r>
              <a:rPr lang="en-GB" dirty="0"/>
              <a:t>o</a:t>
            </a:r>
            <a:r>
              <a:rPr lang="en-DK" dirty="0"/>
              <a:t>cker Desktop feature 😭</a:t>
            </a:r>
            <a:endParaRPr lang="en-DK" dirty="0">
              <a:sym typeface="Wingdings" pitchFamily="2" charset="2"/>
            </a:endParaRPr>
          </a:p>
          <a:p>
            <a:pPr lvl="1"/>
            <a:endParaRPr lang="en-DK" dirty="0">
              <a:sym typeface="Wingdings" pitchFamily="2" charset="2"/>
            </a:endParaRPr>
          </a:p>
          <a:p>
            <a:r>
              <a:rPr lang="en-DK" dirty="0">
                <a:sym typeface="Wingdings" pitchFamily="2" charset="2"/>
              </a:rPr>
              <a:t>Open-source alternative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 install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cdebug</a:t>
            </a:r>
            <a:endParaRPr lang="en-GB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cdebug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exec -it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&lt;container-name&gt; sh</a:t>
            </a:r>
          </a:p>
          <a:p>
            <a:pPr lvl="1"/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Manually run in same isolation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pid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container:&lt;name&gt; \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--network container:&lt;name&gt; \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--rm –it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60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E1A7-0C52-2C18-7A45-A724672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OCI – Standardisering af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1336B-37F5-0FA6-AF45-43643CE657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Open Container Initiative (OCI) created specs for: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Image format</a:t>
            </a:r>
            <a:r>
              <a:rPr lang="en-GB" dirty="0"/>
              <a:t> → OCI Image Format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Runtime interface</a:t>
            </a:r>
            <a:r>
              <a:rPr lang="en-GB" dirty="0"/>
              <a:t> → OCI Runtime Specification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Distribution protocol</a:t>
            </a:r>
            <a:r>
              <a:rPr lang="en-GB" dirty="0"/>
              <a:t> → OCI Distribution Specification</a:t>
            </a:r>
          </a:p>
          <a:p>
            <a:endParaRPr lang="en-DK" dirty="0"/>
          </a:p>
          <a:p>
            <a:pPr marL="0" indent="0">
              <a:buNone/>
            </a:pPr>
            <a:r>
              <a:rPr lang="en-GB" dirty="0"/>
              <a:t>These ensure that: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An image built by one tool can run anywhere.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Runtimes like </a:t>
            </a:r>
            <a:r>
              <a:rPr lang="en-GB" dirty="0" err="1"/>
              <a:t>containerd</a:t>
            </a:r>
            <a:r>
              <a:rPr lang="en-GB" dirty="0"/>
              <a:t>, CRI-O, or Docker can execute the same image.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Registries can distribute the same artifacts.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04273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C764-07B5-9AD7-6ED0-E445C033D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isolation - Technicals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26DAAD-29A4-B6EB-41BA-0F94D7CCB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66153"/>
            <a:ext cx="10515600" cy="4567051"/>
          </a:xfrm>
        </p:spPr>
        <p:txBody>
          <a:bodyPr/>
          <a:lstStyle/>
          <a:p>
            <a:r>
              <a:rPr lang="en-GB" dirty="0"/>
              <a:t>Linux kernel features used by container runtimes: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/>
              <a:t>Namespaces   </a:t>
            </a:r>
            <a:r>
              <a:rPr lang="en-GB" dirty="0">
                <a:sym typeface="Wingdings" pitchFamily="2" charset="2"/>
              </a:rPr>
              <a:t>   Process isolation</a:t>
            </a:r>
            <a:endParaRPr lang="en-GB" dirty="0"/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 err="1"/>
              <a:t>Cgroups</a:t>
            </a:r>
            <a:r>
              <a:rPr lang="en-GB" dirty="0"/>
              <a:t>	          </a:t>
            </a:r>
            <a:r>
              <a:rPr lang="en-GB" dirty="0">
                <a:sym typeface="Wingdings" pitchFamily="2" charset="2"/>
              </a:rPr>
              <a:t>   Resource allocation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 err="1">
                <a:sym typeface="Wingdings" pitchFamily="2" charset="2"/>
              </a:rPr>
              <a:t>OverlayFS</a:t>
            </a:r>
            <a:r>
              <a:rPr lang="en-GB" dirty="0">
                <a:sym typeface="Wingdings" pitchFamily="2" charset="2"/>
              </a:rPr>
              <a:t>           Layered filesystem</a:t>
            </a:r>
          </a:p>
          <a:p>
            <a:pPr marL="457200" lvl="1" indent="0">
              <a:buNone/>
            </a:pPr>
            <a:endParaRPr lang="en-GB" dirty="0">
              <a:sym typeface="Wingdings" pitchFamily="2" charset="2"/>
            </a:endParaRPr>
          </a:p>
          <a:p>
            <a:r>
              <a:rPr lang="en-GB" dirty="0">
                <a:sym typeface="Wingdings" pitchFamily="2" charset="2"/>
              </a:rPr>
              <a:t>Virtual Machines (VMs) are parasites on their host machine</a:t>
            </a:r>
          </a:p>
          <a:p>
            <a:pPr lvl="1"/>
            <a:r>
              <a:rPr lang="en-GB" dirty="0">
                <a:sym typeface="Wingdings" pitchFamily="2" charset="2"/>
              </a:rPr>
              <a:t>Complete VMs exists as full machines inside their hosts</a:t>
            </a:r>
          </a:p>
          <a:p>
            <a:pPr lvl="1"/>
            <a:r>
              <a:rPr lang="en-GB" dirty="0">
                <a:sym typeface="Wingdings" pitchFamily="2" charset="2"/>
              </a:rPr>
              <a:t>Slim VMs use the capabilities of their hosts; they cannot exist independently</a:t>
            </a:r>
          </a:p>
          <a:p>
            <a:r>
              <a:rPr lang="en-GB" dirty="0">
                <a:sym typeface="Wingdings" pitchFamily="2" charset="2"/>
              </a:rPr>
              <a:t>More fundamental than “</a:t>
            </a:r>
            <a:r>
              <a:rPr lang="en-GB" dirty="0" err="1">
                <a:sym typeface="Wingdings" pitchFamily="2" charset="2"/>
              </a:rPr>
              <a:t>userspace</a:t>
            </a:r>
            <a:r>
              <a:rPr lang="en-GB" dirty="0">
                <a:sym typeface="Wingdings" pitchFamily="2" charset="2"/>
              </a:rPr>
              <a:t>” VMs such as JVM.</a:t>
            </a:r>
          </a:p>
          <a:p>
            <a:r>
              <a:rPr lang="en-GB" dirty="0">
                <a:sym typeface="Wingdings" pitchFamily="2" charset="2"/>
              </a:rPr>
              <a:t>More </a:t>
            </a:r>
            <a:r>
              <a:rPr lang="en-GB" dirty="0" err="1">
                <a:sym typeface="Wingdings" pitchFamily="2" charset="2"/>
              </a:rPr>
              <a:t>userspacey</a:t>
            </a:r>
            <a:r>
              <a:rPr lang="en-GB" dirty="0">
                <a:sym typeface="Wingdings" pitchFamily="2" charset="2"/>
              </a:rPr>
              <a:t> than </a:t>
            </a:r>
            <a:r>
              <a:rPr lang="en-GB" dirty="0" err="1">
                <a:sym typeface="Wingdings" pitchFamily="2" charset="2"/>
              </a:rPr>
              <a:t>Libvirt</a:t>
            </a:r>
            <a:r>
              <a:rPr lang="en-GB" dirty="0">
                <a:sym typeface="Wingdings" pitchFamily="2" charset="2"/>
              </a:rPr>
              <a:t> or VirtualBox VMs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endParaRPr lang="en-GB" dirty="0">
              <a:sym typeface="Wingdings" pitchFamily="2" charset="2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64230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ABF180-3966-A63E-7F72-01D302B2C6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66" r="2286" b="19441"/>
          <a:stretch>
            <a:fillRect/>
          </a:stretch>
        </p:blipFill>
        <p:spPr>
          <a:xfrm>
            <a:off x="232081" y="1643605"/>
            <a:ext cx="10671271" cy="4520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ED28C66-FB55-B0D5-A7E4-10E51047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isolation</a:t>
            </a:r>
          </a:p>
        </p:txBody>
      </p:sp>
    </p:spTree>
    <p:extLst>
      <p:ext uri="{BB962C8B-B14F-4D97-AF65-F5344CB8AC3E}">
        <p14:creationId xmlns:p14="http://schemas.microsoft.com/office/powerpoint/2010/main" val="5441029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DAF0-6D06-47BA-C73F-0732F358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OverlayFS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E674E-CD56-B0FF-AA99-5DCE78B18F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32" y="2007291"/>
            <a:ext cx="7002585" cy="4407808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Sequentially layered filesystem for unix.</a:t>
            </a:r>
            <a:br>
              <a:rPr lang="en-DK" dirty="0"/>
            </a:br>
            <a:endParaRPr lang="en-DK" dirty="0"/>
          </a:p>
          <a:p>
            <a:r>
              <a:rPr lang="en-GB" dirty="0"/>
              <a:t>Run container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Create filesystem using </a:t>
            </a:r>
            <a:r>
              <a:rPr lang="en-GB" dirty="0" err="1"/>
              <a:t>OverlayFS</a:t>
            </a:r>
            <a:r>
              <a:rPr lang="en-GB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All individual layers are overlayed into one unified (merged) view of the complete filesystem.</a:t>
            </a:r>
          </a:p>
          <a:p>
            <a:endParaRPr lang="en-GB" dirty="0"/>
          </a:p>
          <a:p>
            <a:r>
              <a:rPr lang="en-GB" dirty="0"/>
              <a:t>All files in your container image comes from a layer.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An image contains a manifest with references to each layer.</a:t>
            </a:r>
          </a:p>
          <a:p>
            <a:endParaRPr lang="en-GB" dirty="0"/>
          </a:p>
          <a:p>
            <a:r>
              <a:rPr lang="en-GB" dirty="0"/>
              <a:t>Bottom-most layer is called the base image.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Usually a Linux distribution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Where the root filesystem comes from, like /bin /etc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But – You can also start from scratch!</a:t>
            </a:r>
            <a:endParaRPr lang="en-DK" dirty="0"/>
          </a:p>
        </p:txBody>
      </p:sp>
      <p:pic>
        <p:nvPicPr>
          <p:cNvPr id="5" name="Picture 4" descr="How to cut docker images by 80%: Docker theory for busy engineers">
            <a:extLst>
              <a:ext uri="{FF2B5EF4-FFF2-40B4-BE49-F238E27FC236}">
                <a16:creationId xmlns:a16="http://schemas.microsoft.com/office/drawing/2014/main" id="{E8A0931E-FEB8-B275-E290-F1DA91E00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1482" y="1606606"/>
            <a:ext cx="4326633" cy="440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01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C58-6996-9014-8A9F-8443D27DA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OverlayFS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5A9006-0A40-8D65-07A1-CEAE85681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022" y="365125"/>
            <a:ext cx="6081778" cy="6219108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78F6FB4-95CE-FA3F-E6A8-B3D85CE19A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32" y="2007291"/>
            <a:ext cx="6417433" cy="4125913"/>
          </a:xfrm>
        </p:spPr>
        <p:txBody>
          <a:bodyPr>
            <a:normAutofit/>
          </a:bodyPr>
          <a:lstStyle/>
          <a:p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layers</a:t>
            </a:r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Base OS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Runtime &amp; Libraries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Your app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Config &amp; Metadata</a:t>
            </a:r>
          </a:p>
        </p:txBody>
      </p:sp>
    </p:spTree>
    <p:extLst>
      <p:ext uri="{BB962C8B-B14F-4D97-AF65-F5344CB8AC3E}">
        <p14:creationId xmlns:p14="http://schemas.microsoft.com/office/powerpoint/2010/main" val="3310306520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36351</TotalTime>
  <Words>4000</Words>
  <Application>Microsoft Macintosh PowerPoint</Application>
  <PresentationFormat>Widescreen</PresentationFormat>
  <Paragraphs>588</Paragraphs>
  <Slides>58</Slides>
  <Notes>32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Arial</vt:lpstr>
      <vt:lpstr>Calibri</vt:lpstr>
      <vt:lpstr>Calibri Light</vt:lpstr>
      <vt:lpstr>Consolas</vt:lpstr>
      <vt:lpstr>Courier New</vt:lpstr>
      <vt:lpstr>roboto flex</vt:lpstr>
      <vt:lpstr>Times New Roman</vt:lpstr>
      <vt:lpstr>Wingdings</vt:lpstr>
      <vt:lpstr>Indhold</vt:lpstr>
      <vt:lpstr>Pause og overgange</vt:lpstr>
      <vt:lpstr>Containerisation Workshop </vt:lpstr>
      <vt:lpstr>KB’s strategi</vt:lpstr>
      <vt:lpstr>Agile teams: Autonome og mynddiggjorte</vt:lpstr>
      <vt:lpstr>Vi ved at det tager tid</vt:lpstr>
      <vt:lpstr>PowerPoint Presentation</vt:lpstr>
      <vt:lpstr>PowerPoint Presentation</vt:lpstr>
      <vt:lpstr>PowerPoint Presentation</vt:lpstr>
      <vt:lpstr>Hvorfor containerisation?</vt:lpstr>
      <vt:lpstr>Hvorfor containerisation?</vt:lpstr>
      <vt:lpstr>Demo – Smagsprøve på gevinsterne</vt:lpstr>
      <vt:lpstr>What is a container anyway?</vt:lpstr>
      <vt:lpstr>PowerPoint Presentation</vt:lpstr>
      <vt:lpstr>Docker vs Kubernetes (k8s)</vt:lpstr>
      <vt:lpstr>PowerPoint Presentation</vt:lpstr>
      <vt:lpstr>Container = Legoklods</vt:lpstr>
      <vt:lpstr>PowerPoint Presentation</vt:lpstr>
      <vt:lpstr>Dockerfile, Images og Containers</vt:lpstr>
      <vt:lpstr>Docker CLI</vt:lpstr>
      <vt:lpstr>PowerPoint Presentation</vt:lpstr>
      <vt:lpstr>PowerPoint Presentation</vt:lpstr>
      <vt:lpstr>Basic Dockerfile</vt:lpstr>
      <vt:lpstr>Dockerfile – Instructions</vt:lpstr>
      <vt:lpstr>PowerPoint Presentation</vt:lpstr>
      <vt:lpstr>Let’s build a container image!</vt:lpstr>
      <vt:lpstr>Exercise: Basics - Retrospective</vt:lpstr>
      <vt:lpstr>PowerPoint Presentation</vt:lpstr>
      <vt:lpstr>Dockerfile – Stages &amp; Layers</vt:lpstr>
      <vt:lpstr>Dockerfile – Layers</vt:lpstr>
      <vt:lpstr>Dockerfile – Layers are cached</vt:lpstr>
      <vt:lpstr>Dockerfile – Multi-stage</vt:lpstr>
      <vt:lpstr>Dockerfile – Base images</vt:lpstr>
      <vt:lpstr>PowerPoint Presentation</vt:lpstr>
      <vt:lpstr>Container runtimes</vt:lpstr>
      <vt:lpstr>Runtime – Execution &amp; logs</vt:lpstr>
      <vt:lpstr>Runtime – Volume mapping</vt:lpstr>
      <vt:lpstr>PowerPoint Presentation</vt:lpstr>
      <vt:lpstr>Exercise: Advanced</vt:lpstr>
      <vt:lpstr>Exercise: Advanced - Retrospective</vt:lpstr>
      <vt:lpstr>PowerPoint Presentation</vt:lpstr>
      <vt:lpstr>Docker Compose</vt:lpstr>
      <vt:lpstr>PowerPoint Presentation</vt:lpstr>
      <vt:lpstr>Docker Compose – Monorepo example</vt:lpstr>
      <vt:lpstr>Docker Compose – Basic Commands</vt:lpstr>
      <vt:lpstr>Docker Compose – Useful daily cmds</vt:lpstr>
      <vt:lpstr>Docker Compose – Ports</vt:lpstr>
      <vt:lpstr>Compose example /w ports</vt:lpstr>
      <vt:lpstr>Docker Compose – Environment Vars</vt:lpstr>
      <vt:lpstr>Docker Compose – Practical Example</vt:lpstr>
      <vt:lpstr>Docker Compose – Volumes</vt:lpstr>
      <vt:lpstr>Docker Compose – Exercises</vt:lpstr>
      <vt:lpstr>PowerPoint Presentation</vt:lpstr>
      <vt:lpstr>Containerisation – The 12 factor app</vt:lpstr>
      <vt:lpstr>Docker Debug</vt:lpstr>
      <vt:lpstr>OCI – Standardisering af Containers</vt:lpstr>
      <vt:lpstr>Container isolation - Technicals</vt:lpstr>
      <vt:lpstr>Container isolation</vt:lpstr>
      <vt:lpstr>OverlayFS</vt:lpstr>
      <vt:lpstr>OverlayFS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262</cp:revision>
  <dcterms:created xsi:type="dcterms:W3CDTF">2021-06-21T11:45:03Z</dcterms:created>
  <dcterms:modified xsi:type="dcterms:W3CDTF">2026-06-02T13:04:44Z</dcterms:modified>
</cp:coreProperties>
</file>